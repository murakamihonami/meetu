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MeetU は、推し活グッズの【譲】と【求】をタグでつなぎ、1対1で組めない交換も3〜4人の輪にして、受け渡しの移動距離が最短になる組み合わせを提案するサービスです。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推し活のグッズ交換は、SNSの譲渡投稿を目で追うのが主流です。見つからない、噛み合わない、1対1では成立しない、の3つで止まります。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一番の損失は3つ目です。AさんとBさんだけでは噛み合わなくても、Cさんが加われば全員の希望が満たせることがある。でも、それを人が手で見つけるのは不可能です。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そこで MeetU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ユーザーがやるのは【譲】【求】のカードを登録することだけ。相手探しと組み合わせ探しは MeetU が引き受け、成立したらトークで受け渡しを決めます。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MeetU の中心にあるのが、この複数人での交換です。人を点、「この人からこの人へ渡せる」という関係を矢印とみなし、矢印をたどって一周できる組み合わせを探します。2人で噛み合わなくても、3人や4人で回せば全員の希望が満たせる。この輪を自動で見つけ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輪は1通りとは限りません。同じ3人でも、誰が誰に渡すかで移動距離は大きく変わります。MeetU は見つかった候補を合計移動距離の短い順に並べ、いちばん近い組み合わせを提案します。また、同じカードが複数の輪に同時に出ないよう、一度使ったカードは他の候補から外しています。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いまはSNSのタイムラインで譲渡投稿を探し、DMで交渉し、合わなければやり直す、を繰り返しています。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タグの品質がマッチングの精度を決めます。だから入力を人に頼らず、写真からビジョンLLMでタグ候補を出します。カテゴリはJSONで制約し、最終確定はユーザーが行います。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五条』で検索しても『五条悟』のカードが出る。埋め込むのはカードではなくタグなので、カードが増えてもベクトル数は語彙数で頭打ちになります。マッチングの判定そのものはタグ一致のままで、ベクトルは名寄せにだけ使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汎用のフリマや SNS 投稿は手軽ですが、推し活のタグ構造も、3人以上の交換も扱えません。MeetU は推し活特化で、しかも登録するだけの手軽さを両立します。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私たちが目指すのは、交換が“噛み合わない”で終わらず、手放したグッズがちゃんと次の人に届く世界です。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3〜4人に限った輪の探索は、腎臓交換の研究で知られるバーター交換クリアリング問題と同型で、NP完全です。そこで打ち切り付きの探索に、移動距離の最適化とカード単位の排他採用を組み込みました。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ユーザーの手間は写真1枚。交換は1対1に限らず4人までの輪で成立させ、その中から移動距離が最短のものを出します。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ログは Cloudflare Workers Logs に集約し、外部の監視SaaSを使わずにコストを抑えています。push 前に CI 一式が走り、失敗時は Claude が修正を提案します。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フロントは Next.js の静的書き出しを Workers で配信、API は Workers + Hono で D1/KV/R2 を使います。フロントはバックエンドの型を Hono RPC でそのまま使うため、型のズレがコンパイル時に分かります。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取引が終わったら相互に5段階評価。通報が重なったアカウントは自動で停止します。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写真で登録し、輪で成立させ、近くで受け渡し、取引後まで見守る。一連の体験を1つのアプリで途切れさせません。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ユーザーにとっては手放したものが届く安心、コミュニティにとっては交換が会場の外でも回り続ける基盤を目指します。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最終的には、推し活の【譲】と【求】がすべて MeetU の上でつながる、交換のインフラになることを目指します。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輪の探索は訪問300で打ち切るため、登録1回あたりの計算量は規模に依存しません。ベクトルは語彙数で頭打ち。さらに規模が大きくなった場合の、上界評価と厳密解法への移行方針まで設計済みです。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【譲】と【求】を、輪でつなぐ。MeetU でした。ありがとうございました。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F8FF3E"/>
          </a:solidFill>
          <a:ln w="12700">
            <a:solidFill>
              <a:srgbClr val="F8FF3E"/>
            </a:solidFill>
            <a:prstDash val="solid"/>
          </a:ln>
        </p:spPr>
      </p:sp>
      <p:sp>
        <p:nvSpPr>
          <p:cNvPr id="3" name="Shape 1"/>
          <p:cNvSpPr/>
          <p:nvPr/>
        </p:nvSpPr>
        <p:spPr>
          <a:xfrm>
            <a:off x="6583680" y="3566160"/>
            <a:ext cx="3291840" cy="3291840"/>
          </a:xfrm>
          <a:prstGeom prst="ellipse">
            <a:avLst/>
          </a:prstGeom>
          <a:solidFill>
            <a:srgbClr val="D7FDF6"/>
          </a:solidFill>
          <a:ln w="12700">
            <a:solidFill>
              <a:srgbClr val="D7FDF6"/>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6B7000"/>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推し活のグッズ交換を、</a:t>
            </a:r>
            <a:pPr indent="0" marL="0">
              <a:buNone/>
            </a:pPr>
            <a:r>
              <a:rPr lang="en-US" sz="1300" b="1" dirty="0">
                <a:solidFill>
                  <a:srgbClr val="00705E"/>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とつなぐマッチング</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F8FF3E"/>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7FDF6"/>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F8FF3E"/>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F8FF3E"/>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6B7000"/>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658368" cy="237744"/>
          </a:xfrm>
          <a:prstGeom prst="roundRect">
            <a:avLst>
              <a:gd name="adj" fmla="val 50000"/>
            </a:avLst>
          </a:prstGeom>
          <a:solidFill>
            <a:srgbClr val="1C1B1B"/>
          </a:solidFill>
          <a:ln w="15875">
            <a:solidFill>
              <a:srgbClr val="1C1B1B"/>
            </a:solidFill>
            <a:prstDash val="solid"/>
          </a:ln>
        </p:spPr>
      </p:sp>
      <p:sp>
        <p:nvSpPr>
          <p:cNvPr id="34" name="Text 31"/>
          <p:cNvSpPr txBox="1"/>
          <p:nvPr/>
        </p:nvSpPr>
        <p:spPr>
          <a:xfrm>
            <a:off x="6199632" y="3300984"/>
            <a:ext cx="65836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プロセカ</a:t>
            </a:r>
            <a:endParaRPr lang="en-US" sz="800" dirty="0"/>
          </a:p>
        </p:txBody>
      </p:sp>
      <p:sp>
        <p:nvSpPr>
          <p:cNvPr id="35" name="Shape 32"/>
          <p:cNvSpPr/>
          <p:nvPr/>
        </p:nvSpPr>
        <p:spPr>
          <a:xfrm>
            <a:off x="6931152" y="3300984"/>
            <a:ext cx="566928" cy="237744"/>
          </a:xfrm>
          <a:prstGeom prst="roundRect">
            <a:avLst>
              <a:gd name="adj" fmla="val 50000"/>
            </a:avLst>
          </a:prstGeom>
          <a:solidFill>
            <a:srgbClr val="1C1B1B"/>
          </a:solidFill>
          <a:ln w="15875">
            <a:solidFill>
              <a:srgbClr val="1C1B1B"/>
            </a:solidFill>
            <a:prstDash val="solid"/>
          </a:ln>
        </p:spPr>
      </p:sp>
      <p:sp>
        <p:nvSpPr>
          <p:cNvPr id="36" name="Text 33"/>
          <p:cNvSpPr txBox="1"/>
          <p:nvPr/>
        </p:nvSpPr>
        <p:spPr>
          <a:xfrm>
            <a:off x="6931152" y="3300984"/>
            <a:ext cx="56692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天馬司</a:t>
            </a:r>
            <a:endParaRPr lang="en-US" sz="800" dirty="0"/>
          </a:p>
        </p:txBody>
      </p:sp>
      <p:sp>
        <p:nvSpPr>
          <p:cNvPr id="37" name="Shape 34"/>
          <p:cNvSpPr/>
          <p:nvPr/>
        </p:nvSpPr>
        <p:spPr>
          <a:xfrm>
            <a:off x="6199632" y="3694176"/>
            <a:ext cx="1682496" cy="329184"/>
          </a:xfrm>
          <a:prstGeom prst="roundRect">
            <a:avLst>
              <a:gd name="adj" fmla="val 27778"/>
            </a:avLst>
          </a:prstGeom>
          <a:solidFill>
            <a:srgbClr val="F8FF3E"/>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推し活グッズ交換の課題</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推し活のグッズ交換、</a:t>
            </a:r>
            <a:pPr algn="ctr" indent="0" marL="0">
              <a:buNone/>
            </a:pPr>
            <a:r>
              <a:rPr lang="en-US" sz="2400" b="1" dirty="0">
                <a:solidFill>
                  <a:srgbClr val="6B7000"/>
                </a:solidFill>
                <a:latin typeface="Yu Gothic" pitchFamily="34" charset="0"/>
                <a:ea typeface="Yu Gothic" pitchFamily="34" charset="-122"/>
                <a:cs typeface="Yu Gothic" pitchFamily="34" charset="-120"/>
              </a:rPr>
              <a:t>止まって</a:t>
            </a:r>
            <a:pPr algn="ctr" indent="0" marL="0">
              <a:buNone/>
            </a:pPr>
            <a:r>
              <a:rPr lang="en-US" sz="2400" b="1" dirty="0">
                <a:solidFill>
                  <a:srgbClr val="1C1B1B"/>
                </a:solidFill>
                <a:latin typeface="Yu Gothic" pitchFamily="34" charset="0"/>
                <a:ea typeface="Yu Gothic" pitchFamily="34" charset="-122"/>
                <a:cs typeface="Yu Gothic" pitchFamily="34" charset="-120"/>
              </a:rPr>
              <a:t>いませんか？</a:t>
            </a:r>
            <a:endParaRPr lang="en-US" sz="2400" dirty="0"/>
          </a:p>
        </p:txBody>
      </p:sp>
      <p:sp>
        <p:nvSpPr>
          <p:cNvPr id="6" name="Shape 3"/>
          <p:cNvSpPr/>
          <p:nvPr/>
        </p:nvSpPr>
        <p:spPr>
          <a:xfrm>
            <a:off x="548640" y="1481328"/>
            <a:ext cx="251460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4864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見つからない</a:t>
            </a:r>
            <a:endParaRPr lang="en-US" sz="1200" dirty="0"/>
          </a:p>
        </p:txBody>
      </p:sp>
      <p:sp>
        <p:nvSpPr>
          <p:cNvPr id="8" name="Shape 5"/>
          <p:cNvSpPr/>
          <p:nvPr/>
        </p:nvSpPr>
        <p:spPr>
          <a:xfrm>
            <a:off x="1280160" y="2103120"/>
            <a:ext cx="1051560" cy="105156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511503" y="2334463"/>
            <a:ext cx="588874" cy="588874"/>
          </a:xfrm>
          <a:prstGeom prst="rect">
            <a:avLst/>
          </a:prstGeom>
        </p:spPr>
      </p:pic>
      <p:sp>
        <p:nvSpPr>
          <p:cNvPr id="10" name="Text 6"/>
          <p:cNvSpPr txBox="1"/>
          <p:nvPr/>
        </p:nvSpPr>
        <p:spPr>
          <a:xfrm>
            <a:off x="54864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【譲】【求】の投稿が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タイムラインに流れていく…</a:t>
            </a:r>
            <a:endParaRPr lang="en-US" sz="1200" dirty="0"/>
          </a:p>
        </p:txBody>
      </p:sp>
      <p:sp>
        <p:nvSpPr>
          <p:cNvPr id="11" name="Shape 7"/>
          <p:cNvSpPr/>
          <p:nvPr/>
        </p:nvSpPr>
        <p:spPr>
          <a:xfrm>
            <a:off x="3337560" y="1481328"/>
            <a:ext cx="251460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33756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噛み合わない</a:t>
            </a:r>
            <a:endParaRPr lang="en-US" sz="1200" dirty="0"/>
          </a:p>
        </p:txBody>
      </p:sp>
      <p:sp>
        <p:nvSpPr>
          <p:cNvPr id="13" name="Shape 9"/>
          <p:cNvSpPr/>
          <p:nvPr/>
        </p:nvSpPr>
        <p:spPr>
          <a:xfrm>
            <a:off x="4069080" y="2103120"/>
            <a:ext cx="1051560" cy="1051560"/>
          </a:xfrm>
          <a:prstGeom prst="ellipse">
            <a:avLst/>
          </a:prstGeom>
          <a:solidFill>
            <a:srgbClr val="1C1B1B"/>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300423" y="2334463"/>
            <a:ext cx="588874" cy="588874"/>
          </a:xfrm>
          <a:prstGeom prst="rect">
            <a:avLst/>
          </a:prstGeom>
        </p:spPr>
      </p:pic>
      <p:sp>
        <p:nvSpPr>
          <p:cNvPr id="15" name="Text 10"/>
          <p:cNvSpPr txBox="1"/>
          <p:nvPr/>
        </p:nvSpPr>
        <p:spPr>
          <a:xfrm>
            <a:off x="333756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見つけても、持っているグッズが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合わず振り出しに戻る…</a:t>
            </a:r>
            <a:endParaRPr lang="en-US" sz="1200" dirty="0"/>
          </a:p>
        </p:txBody>
      </p:sp>
      <p:sp>
        <p:nvSpPr>
          <p:cNvPr id="16" name="Shape 11"/>
          <p:cNvSpPr/>
          <p:nvPr/>
        </p:nvSpPr>
        <p:spPr>
          <a:xfrm>
            <a:off x="6126480" y="1481328"/>
            <a:ext cx="2514600" cy="384048"/>
          </a:xfrm>
          <a:prstGeom prst="roundRect">
            <a:avLst>
              <a:gd name="adj" fmla="val 50000"/>
            </a:avLst>
          </a:prstGeom>
          <a:solidFill>
            <a:srgbClr val="F4F4F7"/>
          </a:solidFill>
          <a:ln w="22225">
            <a:solidFill>
              <a:srgbClr val="1C1B1B"/>
            </a:solidFill>
            <a:prstDash val="solid"/>
          </a:ln>
        </p:spPr>
      </p:sp>
      <p:sp>
        <p:nvSpPr>
          <p:cNvPr id="17" name="Text 12"/>
          <p:cNvSpPr txBox="1"/>
          <p:nvPr/>
        </p:nvSpPr>
        <p:spPr>
          <a:xfrm>
            <a:off x="612648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成立しない</a:t>
            </a:r>
            <a:endParaRPr lang="en-US" sz="1200" dirty="0"/>
          </a:p>
        </p:txBody>
      </p:sp>
      <p:sp>
        <p:nvSpPr>
          <p:cNvPr id="18" name="Shape 13"/>
          <p:cNvSpPr/>
          <p:nvPr/>
        </p:nvSpPr>
        <p:spPr>
          <a:xfrm>
            <a:off x="6858000" y="2103120"/>
            <a:ext cx="1051560" cy="1051560"/>
          </a:xfrm>
          <a:prstGeom prst="ellipse">
            <a:avLst/>
          </a:prstGeom>
          <a:solidFill>
            <a:srgbClr val="13F3CE"/>
          </a:solidFill>
          <a:ln w="25400">
            <a:solidFill>
              <a:srgbClr val="1C1B1B"/>
            </a:solidFill>
            <a:prstDash val="solid"/>
          </a:ln>
        </p:spPr>
      </p:sp>
      <p:pic>
        <p:nvPicPr>
          <p:cNvPr id="19" name="Image 3" descr="preencoded.png">    </p:cNvPr>
          <p:cNvPicPr>
            <a:picLocks noChangeAspect="1"/>
          </p:cNvPicPr>
          <p:nvPr/>
        </p:nvPicPr>
        <p:blipFill>
          <a:blip r:embed="rId4"/>
          <a:stretch>
            <a:fillRect/>
          </a:stretch>
        </p:blipFill>
        <p:spPr>
          <a:xfrm>
            <a:off x="7089343" y="2334463"/>
            <a:ext cx="588874" cy="588874"/>
          </a:xfrm>
          <a:prstGeom prst="rect">
            <a:avLst/>
          </a:prstGeom>
        </p:spPr>
      </p:pic>
      <p:sp>
        <p:nvSpPr>
          <p:cNvPr id="20" name="Text 14"/>
          <p:cNvSpPr txBox="1"/>
          <p:nvPr/>
        </p:nvSpPr>
        <p:spPr>
          <a:xfrm>
            <a:off x="612648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1対1で組めない交換は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あきらめるしかない…</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推し活グッズ交換の課題</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推し活のグッズ交換、</a:t>
            </a:r>
            <a:pPr algn="ctr" indent="0" marL="0">
              <a:buNone/>
            </a:pPr>
            <a:r>
              <a:rPr lang="en-US" sz="2400" b="1" dirty="0">
                <a:solidFill>
                  <a:srgbClr val="6B7000"/>
                </a:solidFill>
                <a:latin typeface="Yu Gothic" pitchFamily="34" charset="0"/>
                <a:ea typeface="Yu Gothic" pitchFamily="34" charset="-122"/>
                <a:cs typeface="Yu Gothic" pitchFamily="34" charset="-120"/>
              </a:rPr>
              <a:t>止まって</a:t>
            </a:r>
            <a:pPr algn="ctr" indent="0" marL="0">
              <a:buNone/>
            </a:pPr>
            <a:r>
              <a:rPr lang="en-US" sz="2400" b="1" dirty="0">
                <a:solidFill>
                  <a:srgbClr val="1C1B1B"/>
                </a:solidFill>
                <a:latin typeface="Yu Gothic" pitchFamily="34" charset="0"/>
                <a:ea typeface="Yu Gothic" pitchFamily="34" charset="-122"/>
                <a:cs typeface="Yu Gothic" pitchFamily="34" charset="-120"/>
              </a:rPr>
              <a:t>いませんか？</a:t>
            </a:r>
            <a:endParaRPr lang="en-US" sz="2400" dirty="0"/>
          </a:p>
        </p:txBody>
      </p:sp>
      <p:sp>
        <p:nvSpPr>
          <p:cNvPr id="6" name="Shape 3"/>
          <p:cNvSpPr/>
          <p:nvPr/>
        </p:nvSpPr>
        <p:spPr>
          <a:xfrm>
            <a:off x="548640" y="1481328"/>
            <a:ext cx="251460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4864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見つからない</a:t>
            </a:r>
            <a:endParaRPr lang="en-US" sz="1200" dirty="0"/>
          </a:p>
        </p:txBody>
      </p:sp>
      <p:sp>
        <p:nvSpPr>
          <p:cNvPr id="8" name="Shape 5"/>
          <p:cNvSpPr/>
          <p:nvPr/>
        </p:nvSpPr>
        <p:spPr>
          <a:xfrm>
            <a:off x="1280160" y="2103120"/>
            <a:ext cx="1051560" cy="105156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511503" y="2334463"/>
            <a:ext cx="588874" cy="588874"/>
          </a:xfrm>
          <a:prstGeom prst="rect">
            <a:avLst/>
          </a:prstGeom>
        </p:spPr>
      </p:pic>
      <p:sp>
        <p:nvSpPr>
          <p:cNvPr id="10" name="Text 6"/>
          <p:cNvSpPr txBox="1"/>
          <p:nvPr/>
        </p:nvSpPr>
        <p:spPr>
          <a:xfrm>
            <a:off x="54864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【譲】【求】の投稿が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タイムラインに流れていく…</a:t>
            </a:r>
            <a:endParaRPr lang="en-US" sz="1200" dirty="0"/>
          </a:p>
        </p:txBody>
      </p:sp>
      <p:sp>
        <p:nvSpPr>
          <p:cNvPr id="11" name="Shape 7"/>
          <p:cNvSpPr/>
          <p:nvPr/>
        </p:nvSpPr>
        <p:spPr>
          <a:xfrm>
            <a:off x="3337560" y="1481328"/>
            <a:ext cx="251460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33756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噛み合わない</a:t>
            </a:r>
            <a:endParaRPr lang="en-US" sz="1200" dirty="0"/>
          </a:p>
        </p:txBody>
      </p:sp>
      <p:sp>
        <p:nvSpPr>
          <p:cNvPr id="13" name="Shape 9"/>
          <p:cNvSpPr/>
          <p:nvPr/>
        </p:nvSpPr>
        <p:spPr>
          <a:xfrm>
            <a:off x="4069080" y="2103120"/>
            <a:ext cx="1051560" cy="1051560"/>
          </a:xfrm>
          <a:prstGeom prst="ellipse">
            <a:avLst/>
          </a:prstGeom>
          <a:solidFill>
            <a:srgbClr val="1C1B1B"/>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300423" y="2334463"/>
            <a:ext cx="588874" cy="588874"/>
          </a:xfrm>
          <a:prstGeom prst="rect">
            <a:avLst/>
          </a:prstGeom>
        </p:spPr>
      </p:pic>
      <p:sp>
        <p:nvSpPr>
          <p:cNvPr id="15" name="Text 10"/>
          <p:cNvSpPr txBox="1"/>
          <p:nvPr/>
        </p:nvSpPr>
        <p:spPr>
          <a:xfrm>
            <a:off x="333756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見つけても、持っているグッズが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合わず振り出しに戻る…</a:t>
            </a:r>
            <a:endParaRPr lang="en-US" sz="1200" dirty="0"/>
          </a:p>
        </p:txBody>
      </p:sp>
      <p:sp>
        <p:nvSpPr>
          <p:cNvPr id="16" name="Shape 11"/>
          <p:cNvSpPr/>
          <p:nvPr/>
        </p:nvSpPr>
        <p:spPr>
          <a:xfrm>
            <a:off x="6126480" y="1481328"/>
            <a:ext cx="2514600" cy="384048"/>
          </a:xfrm>
          <a:prstGeom prst="roundRect">
            <a:avLst>
              <a:gd name="adj" fmla="val 50000"/>
            </a:avLst>
          </a:prstGeom>
          <a:solidFill>
            <a:srgbClr val="F4F4F7"/>
          </a:solidFill>
          <a:ln w="22225">
            <a:solidFill>
              <a:srgbClr val="1C1B1B"/>
            </a:solidFill>
            <a:prstDash val="solid"/>
          </a:ln>
        </p:spPr>
      </p:sp>
      <p:sp>
        <p:nvSpPr>
          <p:cNvPr id="17" name="Text 12"/>
          <p:cNvSpPr txBox="1"/>
          <p:nvPr/>
        </p:nvSpPr>
        <p:spPr>
          <a:xfrm>
            <a:off x="612648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成立しない</a:t>
            </a:r>
            <a:endParaRPr lang="en-US" sz="1200" dirty="0"/>
          </a:p>
        </p:txBody>
      </p:sp>
      <p:sp>
        <p:nvSpPr>
          <p:cNvPr id="18" name="Shape 13"/>
          <p:cNvSpPr/>
          <p:nvPr/>
        </p:nvSpPr>
        <p:spPr>
          <a:xfrm>
            <a:off x="6858000" y="2103120"/>
            <a:ext cx="1051560" cy="1051560"/>
          </a:xfrm>
          <a:prstGeom prst="ellipse">
            <a:avLst/>
          </a:prstGeom>
          <a:solidFill>
            <a:srgbClr val="13F3CE"/>
          </a:solidFill>
          <a:ln w="25400">
            <a:solidFill>
              <a:srgbClr val="1C1B1B"/>
            </a:solidFill>
            <a:prstDash val="solid"/>
          </a:ln>
        </p:spPr>
      </p:sp>
      <p:pic>
        <p:nvPicPr>
          <p:cNvPr id="19" name="Image 3" descr="preencoded.png">    </p:cNvPr>
          <p:cNvPicPr>
            <a:picLocks noChangeAspect="1"/>
          </p:cNvPicPr>
          <p:nvPr/>
        </p:nvPicPr>
        <p:blipFill>
          <a:blip r:embed="rId4"/>
          <a:stretch>
            <a:fillRect/>
          </a:stretch>
        </p:blipFill>
        <p:spPr>
          <a:xfrm>
            <a:off x="7089343" y="2334463"/>
            <a:ext cx="588874" cy="588874"/>
          </a:xfrm>
          <a:prstGeom prst="rect">
            <a:avLst/>
          </a:prstGeom>
        </p:spPr>
      </p:pic>
      <p:sp>
        <p:nvSpPr>
          <p:cNvPr id="20" name="Text 14"/>
          <p:cNvSpPr txBox="1"/>
          <p:nvPr/>
        </p:nvSpPr>
        <p:spPr>
          <a:xfrm>
            <a:off x="612648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1対1で組めない交換は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あきらめるしかない…</a:t>
            </a:r>
            <a:endParaRPr lang="en-US" sz="1200" dirty="0"/>
          </a:p>
        </p:txBody>
      </p:sp>
      <p:sp>
        <p:nvSpPr>
          <p:cNvPr id="21" name="Shape 15"/>
          <p:cNvSpPr/>
          <p:nvPr/>
        </p:nvSpPr>
        <p:spPr>
          <a:xfrm>
            <a:off x="0" y="0"/>
            <a:ext cx="9144000" cy="5143500"/>
          </a:xfrm>
          <a:prstGeom prst="rect">
            <a:avLst/>
          </a:prstGeom>
          <a:solidFill>
            <a:srgbClr val="1C1B1B">
              <a:alpha val="55000"/>
            </a:srgbClr>
          </a:solidFill>
          <a:ln w="12700">
            <a:solidFill>
              <a:srgbClr val="1C1B1B"/>
            </a:solidFill>
            <a:prstDash val="solid"/>
          </a:ln>
        </p:spPr>
      </p:sp>
      <p:sp>
        <p:nvSpPr>
          <p:cNvPr id="22" name="Shape 16"/>
          <p:cNvSpPr/>
          <p:nvPr/>
        </p:nvSpPr>
        <p:spPr>
          <a:xfrm>
            <a:off x="1463040" y="1325880"/>
            <a:ext cx="6217920" cy="2514600"/>
          </a:xfrm>
          <a:prstGeom prst="roundRect">
            <a:avLst>
              <a:gd name="adj" fmla="val 5091"/>
            </a:avLst>
          </a:prstGeom>
          <a:solidFill>
            <a:srgbClr val="FFFFFF"/>
          </a:solidFill>
          <a:ln w="31750">
            <a:solidFill>
              <a:srgbClr val="1C1B1B"/>
            </a:solidFill>
            <a:prstDash val="solid"/>
          </a:ln>
        </p:spPr>
      </p:sp>
      <p:sp>
        <p:nvSpPr>
          <p:cNvPr id="23" name="Text 17"/>
          <p:cNvSpPr txBox="1"/>
          <p:nvPr/>
        </p:nvSpPr>
        <p:spPr>
          <a:xfrm>
            <a:off x="1737360" y="1463040"/>
            <a:ext cx="5669280" cy="2240280"/>
          </a:xfrm>
          <a:prstGeom prst="rect">
            <a:avLst/>
          </a:prstGeom>
          <a:noFill/>
          <a:ln/>
        </p:spPr>
        <p:txBody>
          <a:bodyPr wrap="square" lIns="0" tIns="0" rIns="0" bIns="0" rtlCol="0" anchor="ctr"/>
          <a:lstStyle/>
          <a:p>
            <a:pPr algn="ctr" indent="0" marL="0">
              <a:buNone/>
            </a:pPr>
            <a:r>
              <a:rPr lang="en-US" sz="1800" b="1" dirty="0">
                <a:solidFill>
                  <a:srgbClr val="1C1B1B"/>
                </a:solidFill>
                <a:latin typeface="Yu Gothic" pitchFamily="34" charset="0"/>
                <a:ea typeface="Yu Gothic" pitchFamily="34" charset="-122"/>
                <a:cs typeface="Yu Gothic" pitchFamily="34" charset="-120"/>
              </a:rPr>
              <a:t>1対1で組めない交換は</a:t>
            </a:r>
            <a:endParaRPr lang="en-US" sz="1800" dirty="0"/>
          </a:p>
          <a:p>
            <a:pPr algn="ctr" indent="0" marL="0">
              <a:buNone/>
            </a:pPr>
            <a:r>
              <a:rPr lang="en-US" sz="3600" b="1" dirty="0">
                <a:solidFill>
                  <a:srgbClr val="6B7000"/>
                </a:solidFill>
                <a:latin typeface="Yu Gothic" pitchFamily="34" charset="0"/>
                <a:ea typeface="Yu Gothic" pitchFamily="34" charset="-122"/>
                <a:cs typeface="Yu Gothic" pitchFamily="34" charset="-120"/>
              </a:rPr>
              <a:t>“なかったこと”</a:t>
            </a:r>
            <a:endParaRPr lang="en-US" sz="1800" dirty="0"/>
          </a:p>
          <a:p>
            <a:pPr algn="ctr" indent="0" marL="0">
              <a:buNone/>
            </a:pPr>
            <a:r>
              <a:rPr lang="en-US" sz="1800" b="1" dirty="0">
                <a:solidFill>
                  <a:srgbClr val="1C1B1B"/>
                </a:solidFill>
                <a:latin typeface="Yu Gothic" pitchFamily="34" charset="0"/>
                <a:ea typeface="Yu Gothic" pitchFamily="34" charset="-122"/>
                <a:cs typeface="Yu Gothic" pitchFamily="34" charset="-120"/>
              </a:rPr>
              <a:t>になっている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F8FF3E"/>
          </a:solidFill>
          <a:ln w="12700">
            <a:solidFill>
              <a:srgbClr val="F8FF3E"/>
            </a:solidFill>
            <a:prstDash val="solid"/>
          </a:ln>
        </p:spPr>
      </p:sp>
      <p:sp>
        <p:nvSpPr>
          <p:cNvPr id="3" name="Shape 1"/>
          <p:cNvSpPr/>
          <p:nvPr/>
        </p:nvSpPr>
        <p:spPr>
          <a:xfrm>
            <a:off x="6583680" y="3566160"/>
            <a:ext cx="3291840" cy="3291840"/>
          </a:xfrm>
          <a:prstGeom prst="ellipse">
            <a:avLst/>
          </a:prstGeom>
          <a:solidFill>
            <a:srgbClr val="D7FDF6"/>
          </a:solidFill>
          <a:ln w="12700">
            <a:solidFill>
              <a:srgbClr val="D7FDF6"/>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6B7000"/>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推し活のグッズ交換を、</a:t>
            </a:r>
            <a:pPr indent="0" marL="0">
              <a:buNone/>
            </a:pPr>
            <a:r>
              <a:rPr lang="en-US" sz="1300" b="1" dirty="0">
                <a:solidFill>
                  <a:srgbClr val="00705E"/>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とつなぐマッチング</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F8FF3E"/>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7FDF6"/>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F8FF3E"/>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F8FF3E"/>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6B7000"/>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658368" cy="237744"/>
          </a:xfrm>
          <a:prstGeom prst="roundRect">
            <a:avLst>
              <a:gd name="adj" fmla="val 50000"/>
            </a:avLst>
          </a:prstGeom>
          <a:solidFill>
            <a:srgbClr val="1C1B1B"/>
          </a:solidFill>
          <a:ln w="15875">
            <a:solidFill>
              <a:srgbClr val="1C1B1B"/>
            </a:solidFill>
            <a:prstDash val="solid"/>
          </a:ln>
        </p:spPr>
      </p:sp>
      <p:sp>
        <p:nvSpPr>
          <p:cNvPr id="34" name="Text 31"/>
          <p:cNvSpPr txBox="1"/>
          <p:nvPr/>
        </p:nvSpPr>
        <p:spPr>
          <a:xfrm>
            <a:off x="6199632" y="3300984"/>
            <a:ext cx="65836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プロセカ</a:t>
            </a:r>
            <a:endParaRPr lang="en-US" sz="800" dirty="0"/>
          </a:p>
        </p:txBody>
      </p:sp>
      <p:sp>
        <p:nvSpPr>
          <p:cNvPr id="35" name="Shape 32"/>
          <p:cNvSpPr/>
          <p:nvPr/>
        </p:nvSpPr>
        <p:spPr>
          <a:xfrm>
            <a:off x="6931152" y="3300984"/>
            <a:ext cx="566928" cy="237744"/>
          </a:xfrm>
          <a:prstGeom prst="roundRect">
            <a:avLst>
              <a:gd name="adj" fmla="val 50000"/>
            </a:avLst>
          </a:prstGeom>
          <a:solidFill>
            <a:srgbClr val="1C1B1B"/>
          </a:solidFill>
          <a:ln w="15875">
            <a:solidFill>
              <a:srgbClr val="1C1B1B"/>
            </a:solidFill>
            <a:prstDash val="solid"/>
          </a:ln>
        </p:spPr>
      </p:sp>
      <p:sp>
        <p:nvSpPr>
          <p:cNvPr id="36" name="Text 33"/>
          <p:cNvSpPr txBox="1"/>
          <p:nvPr/>
        </p:nvSpPr>
        <p:spPr>
          <a:xfrm>
            <a:off x="6931152" y="3300984"/>
            <a:ext cx="56692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天馬司</a:t>
            </a:r>
            <a:endParaRPr lang="en-US" sz="800" dirty="0"/>
          </a:p>
        </p:txBody>
      </p:sp>
      <p:sp>
        <p:nvSpPr>
          <p:cNvPr id="37" name="Shape 34"/>
          <p:cNvSpPr/>
          <p:nvPr/>
        </p:nvSpPr>
        <p:spPr>
          <a:xfrm>
            <a:off x="6199632" y="3694176"/>
            <a:ext cx="1682496" cy="329184"/>
          </a:xfrm>
          <a:prstGeom prst="roundRect">
            <a:avLst>
              <a:gd name="adj" fmla="val 27778"/>
            </a:avLst>
          </a:prstGeom>
          <a:solidFill>
            <a:srgbClr val="F8FF3E"/>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課題の解決</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12064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“探す”</a:t>
            </a:r>
            <a:pPr algn="ctr" indent="0" marL="0">
              <a:buNone/>
            </a:pPr>
            <a:r>
              <a:rPr lang="en-US" sz="2400" b="1" dirty="0">
                <a:solidFill>
                  <a:srgbClr val="1C1B1B"/>
                </a:solidFill>
                <a:latin typeface="Yu Gothic" pitchFamily="34" charset="0"/>
                <a:ea typeface="Yu Gothic" pitchFamily="34" charset="-122"/>
                <a:cs typeface="Yu Gothic" pitchFamily="34" charset="-120"/>
              </a:rPr>
              <a:t>から</a:t>
            </a:r>
            <a:pPr algn="ctr" indent="0" marL="0">
              <a:buNone/>
            </a:pPr>
            <a:r>
              <a:rPr lang="en-US" sz="2400" b="1" dirty="0">
                <a:solidFill>
                  <a:srgbClr val="6B7000"/>
                </a:solidFill>
                <a:latin typeface="Yu Gothic" pitchFamily="34" charset="0"/>
                <a:ea typeface="Yu Gothic" pitchFamily="34" charset="-122"/>
                <a:cs typeface="Yu Gothic" pitchFamily="34" charset="-120"/>
              </a:rPr>
              <a:t>“受け渡し”</a:t>
            </a:r>
            <a:pPr algn="ctr" indent="0" marL="0">
              <a:buNone/>
            </a:pPr>
            <a:r>
              <a:rPr lang="en-US" sz="2400" b="1" dirty="0">
                <a:solidFill>
                  <a:srgbClr val="1C1B1B"/>
                </a:solidFill>
                <a:latin typeface="Yu Gothic" pitchFamily="34" charset="0"/>
                <a:ea typeface="Yu Gothic" pitchFamily="34" charset="-122"/>
                <a:cs typeface="Yu Gothic" pitchFamily="34" charset="-120"/>
              </a:rPr>
              <a:t>まで</a:t>
            </a:r>
            <a:endParaRPr lang="en-US" sz="2400" dirty="0"/>
          </a:p>
        </p:txBody>
      </p:sp>
      <p:sp>
        <p:nvSpPr>
          <p:cNvPr id="6" name="Text 3"/>
          <p:cNvSpPr txBox="1"/>
          <p:nvPr/>
        </p:nvSpPr>
        <p:spPr>
          <a:xfrm>
            <a:off x="457200" y="1280160"/>
            <a:ext cx="512064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カードを1枚登録するだけ</a:t>
            </a:r>
            <a:endParaRPr lang="en-US" sz="1300" dirty="0"/>
          </a:p>
        </p:txBody>
      </p:sp>
      <p:sp>
        <p:nvSpPr>
          <p:cNvPr id="7" name="Shape 4"/>
          <p:cNvSpPr/>
          <p:nvPr/>
        </p:nvSpPr>
        <p:spPr>
          <a:xfrm>
            <a:off x="1097280" y="1783080"/>
            <a:ext cx="3840480" cy="658368"/>
          </a:xfrm>
          <a:prstGeom prst="roundRect">
            <a:avLst>
              <a:gd name="adj" fmla="val 19444"/>
            </a:avLst>
          </a:prstGeom>
          <a:solidFill>
            <a:srgbClr val="FFFFFF"/>
          </a:solidFill>
          <a:ln w="25400">
            <a:solidFill>
              <a:srgbClr val="1C1B1B"/>
            </a:solidFill>
            <a:prstDash val="solid"/>
          </a:ln>
        </p:spPr>
      </p:sp>
      <p:sp>
        <p:nvSpPr>
          <p:cNvPr id="8" name="Shape 5"/>
          <p:cNvSpPr/>
          <p:nvPr/>
        </p:nvSpPr>
        <p:spPr>
          <a:xfrm>
            <a:off x="1261872" y="1874520"/>
            <a:ext cx="475488" cy="475488"/>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366479" y="1979127"/>
            <a:ext cx="266273" cy="266273"/>
          </a:xfrm>
          <a:prstGeom prst="rect">
            <a:avLst/>
          </a:prstGeom>
        </p:spPr>
      </p:pic>
      <p:sp>
        <p:nvSpPr>
          <p:cNvPr id="10" name="Text 6"/>
          <p:cNvSpPr txBox="1"/>
          <p:nvPr/>
        </p:nvSpPr>
        <p:spPr>
          <a:xfrm>
            <a:off x="1874520" y="1783080"/>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お取引カードを登録</a:t>
            </a:r>
            <a:endParaRPr lang="en-US" sz="1400" dirty="0"/>
          </a:p>
        </p:txBody>
      </p:sp>
      <p:pic>
        <p:nvPicPr>
          <p:cNvPr id="11" name="Image 2" descr="preencoded.png">    </p:cNvPr>
          <p:cNvPicPr>
            <a:picLocks noChangeAspect="1"/>
          </p:cNvPicPr>
          <p:nvPr/>
        </p:nvPicPr>
        <p:blipFill>
          <a:blip r:embed="rId3"/>
          <a:stretch>
            <a:fillRect/>
          </a:stretch>
        </p:blipFill>
        <p:spPr>
          <a:xfrm>
            <a:off x="2834640" y="2459736"/>
            <a:ext cx="329184" cy="329184"/>
          </a:xfrm>
          <a:prstGeom prst="rect">
            <a:avLst/>
          </a:prstGeom>
        </p:spPr>
      </p:pic>
      <p:sp>
        <p:nvSpPr>
          <p:cNvPr id="12" name="Shape 7"/>
          <p:cNvSpPr/>
          <p:nvPr/>
        </p:nvSpPr>
        <p:spPr>
          <a:xfrm>
            <a:off x="1097280" y="2807208"/>
            <a:ext cx="3840480" cy="658368"/>
          </a:xfrm>
          <a:prstGeom prst="roundRect">
            <a:avLst>
              <a:gd name="adj" fmla="val 19444"/>
            </a:avLst>
          </a:prstGeom>
          <a:solidFill>
            <a:srgbClr val="ECEAE4"/>
          </a:solidFill>
          <a:ln w="25400">
            <a:solidFill>
              <a:srgbClr val="1C1B1B"/>
            </a:solidFill>
            <a:prstDash val="solid"/>
          </a:ln>
        </p:spPr>
      </p:sp>
      <p:sp>
        <p:nvSpPr>
          <p:cNvPr id="13" name="Shape 8"/>
          <p:cNvSpPr/>
          <p:nvPr/>
        </p:nvSpPr>
        <p:spPr>
          <a:xfrm>
            <a:off x="1261872" y="2898648"/>
            <a:ext cx="475488" cy="475488"/>
          </a:xfrm>
          <a:prstGeom prst="ellipse">
            <a:avLst/>
          </a:prstGeom>
          <a:solidFill>
            <a:srgbClr val="1C1B1B"/>
          </a:solidFill>
          <a:ln w="25400">
            <a:solidFill>
              <a:srgbClr val="1C1B1B"/>
            </a:solidFill>
            <a:prstDash val="solid"/>
          </a:ln>
        </p:spPr>
      </p:sp>
      <p:pic>
        <p:nvPicPr>
          <p:cNvPr id="14" name="Image 3" descr="preencoded.png">    </p:cNvPr>
          <p:cNvPicPr>
            <a:picLocks noChangeAspect="1"/>
          </p:cNvPicPr>
          <p:nvPr/>
        </p:nvPicPr>
        <p:blipFill>
          <a:blip r:embed="rId4"/>
          <a:stretch>
            <a:fillRect/>
          </a:stretch>
        </p:blipFill>
        <p:spPr>
          <a:xfrm>
            <a:off x="1366479" y="3003255"/>
            <a:ext cx="266273" cy="266273"/>
          </a:xfrm>
          <a:prstGeom prst="rect">
            <a:avLst/>
          </a:prstGeom>
        </p:spPr>
      </p:pic>
      <p:sp>
        <p:nvSpPr>
          <p:cNvPr id="15" name="Text 9"/>
          <p:cNvSpPr txBox="1"/>
          <p:nvPr/>
        </p:nvSpPr>
        <p:spPr>
          <a:xfrm>
            <a:off x="1874520" y="2807208"/>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MeetU が相手と輪を探索</a:t>
            </a:r>
            <a:endParaRPr lang="en-US" sz="1400" dirty="0"/>
          </a:p>
        </p:txBody>
      </p:sp>
      <p:pic>
        <p:nvPicPr>
          <p:cNvPr id="16" name="Image 4" descr="preencoded.png">    </p:cNvPr>
          <p:cNvPicPr>
            <a:picLocks noChangeAspect="1"/>
          </p:cNvPicPr>
          <p:nvPr/>
        </p:nvPicPr>
        <p:blipFill>
          <a:blip r:embed="rId5"/>
          <a:stretch>
            <a:fillRect/>
          </a:stretch>
        </p:blipFill>
        <p:spPr>
          <a:xfrm>
            <a:off x="2834640" y="3483864"/>
            <a:ext cx="329184" cy="329184"/>
          </a:xfrm>
          <a:prstGeom prst="rect">
            <a:avLst/>
          </a:prstGeom>
        </p:spPr>
      </p:pic>
      <p:sp>
        <p:nvSpPr>
          <p:cNvPr id="17" name="Shape 10"/>
          <p:cNvSpPr/>
          <p:nvPr/>
        </p:nvSpPr>
        <p:spPr>
          <a:xfrm>
            <a:off x="1097280" y="3831336"/>
            <a:ext cx="3840480" cy="658368"/>
          </a:xfrm>
          <a:prstGeom prst="roundRect">
            <a:avLst>
              <a:gd name="adj" fmla="val 19444"/>
            </a:avLst>
          </a:prstGeom>
          <a:solidFill>
            <a:srgbClr val="FFFFFF"/>
          </a:solidFill>
          <a:ln w="25400">
            <a:solidFill>
              <a:srgbClr val="1C1B1B"/>
            </a:solidFill>
            <a:prstDash val="solid"/>
          </a:ln>
        </p:spPr>
      </p:sp>
      <p:sp>
        <p:nvSpPr>
          <p:cNvPr id="18" name="Shape 11"/>
          <p:cNvSpPr/>
          <p:nvPr/>
        </p:nvSpPr>
        <p:spPr>
          <a:xfrm>
            <a:off x="1261872" y="3922776"/>
            <a:ext cx="475488" cy="475488"/>
          </a:xfrm>
          <a:prstGeom prst="ellipse">
            <a:avLst/>
          </a:prstGeom>
          <a:solidFill>
            <a:srgbClr val="13F3CE"/>
          </a:solidFill>
          <a:ln w="25400">
            <a:solidFill>
              <a:srgbClr val="1C1B1B"/>
            </a:solidFill>
            <a:prstDash val="solid"/>
          </a:ln>
        </p:spPr>
      </p:sp>
      <p:pic>
        <p:nvPicPr>
          <p:cNvPr id="19" name="Image 5" descr="preencoded.png">    </p:cNvPr>
          <p:cNvPicPr>
            <a:picLocks noChangeAspect="1"/>
          </p:cNvPicPr>
          <p:nvPr/>
        </p:nvPicPr>
        <p:blipFill>
          <a:blip r:embed="rId6"/>
          <a:stretch>
            <a:fillRect/>
          </a:stretch>
        </p:blipFill>
        <p:spPr>
          <a:xfrm>
            <a:off x="1366479" y="4027383"/>
            <a:ext cx="266273" cy="266273"/>
          </a:xfrm>
          <a:prstGeom prst="rect">
            <a:avLst/>
          </a:prstGeom>
        </p:spPr>
      </p:pic>
      <p:sp>
        <p:nvSpPr>
          <p:cNvPr id="20" name="Text 12"/>
          <p:cNvSpPr txBox="1"/>
          <p:nvPr/>
        </p:nvSpPr>
        <p:spPr>
          <a:xfrm>
            <a:off x="1874520" y="3831336"/>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トークで受け渡しを決める</a:t>
            </a:r>
            <a:endParaRPr lang="en-US" sz="1400" dirty="0"/>
          </a:p>
        </p:txBody>
      </p:sp>
      <p:sp>
        <p:nvSpPr>
          <p:cNvPr id="21" name="Shape 13"/>
          <p:cNvSpPr/>
          <p:nvPr/>
        </p:nvSpPr>
        <p:spPr>
          <a:xfrm>
            <a:off x="6172200" y="685800"/>
            <a:ext cx="2103120" cy="4206240"/>
          </a:xfrm>
          <a:prstGeom prst="roundRect">
            <a:avLst>
              <a:gd name="adj" fmla="val 13913"/>
            </a:avLst>
          </a:prstGeom>
          <a:solidFill>
            <a:srgbClr val="1C1B1B"/>
          </a:solidFill>
          <a:ln w="12700">
            <a:solidFill>
              <a:srgbClr val="1C1B1B"/>
            </a:solidFill>
            <a:prstDash val="solid"/>
          </a:ln>
        </p:spPr>
      </p:sp>
      <p:sp>
        <p:nvSpPr>
          <p:cNvPr id="22" name="Shape 14"/>
          <p:cNvSpPr/>
          <p:nvPr/>
        </p:nvSpPr>
        <p:spPr>
          <a:xfrm>
            <a:off x="6254496" y="768096"/>
            <a:ext cx="1938528" cy="4041648"/>
          </a:xfrm>
          <a:prstGeom prst="roundRect">
            <a:avLst>
              <a:gd name="adj" fmla="val 11792"/>
            </a:avLst>
          </a:prstGeom>
          <a:solidFill>
            <a:srgbClr val="FCF9F8"/>
          </a:solidFill>
          <a:ln w="12700">
            <a:solidFill>
              <a:srgbClr val="FCF9F8"/>
            </a:solidFill>
            <a:prstDash val="solid"/>
          </a:ln>
        </p:spPr>
      </p:sp>
      <p:sp>
        <p:nvSpPr>
          <p:cNvPr id="23" name="Shape 15"/>
          <p:cNvSpPr/>
          <p:nvPr/>
        </p:nvSpPr>
        <p:spPr>
          <a:xfrm>
            <a:off x="6903720" y="832104"/>
            <a:ext cx="640080" cy="128016"/>
          </a:xfrm>
          <a:prstGeom prst="roundRect">
            <a:avLst>
              <a:gd name="adj" fmla="val 50000"/>
            </a:avLst>
          </a:prstGeom>
          <a:solidFill>
            <a:srgbClr val="1C1B1B"/>
          </a:solidFill>
          <a:ln w="12700">
            <a:solidFill>
              <a:srgbClr val="1C1B1B"/>
            </a:solidFill>
            <a:prstDash val="solid"/>
          </a:ln>
        </p:spPr>
      </p:sp>
      <p:sp>
        <p:nvSpPr>
          <p:cNvPr id="24" name="Shape 16"/>
          <p:cNvSpPr/>
          <p:nvPr/>
        </p:nvSpPr>
        <p:spPr>
          <a:xfrm>
            <a:off x="6254496" y="1042416"/>
            <a:ext cx="1938528" cy="384048"/>
          </a:xfrm>
          <a:prstGeom prst="rect">
            <a:avLst/>
          </a:prstGeom>
          <a:solidFill>
            <a:srgbClr val="F8FF3E"/>
          </a:solidFill>
          <a:ln w="19050">
            <a:solidFill>
              <a:srgbClr val="1C1B1B"/>
            </a:solidFill>
            <a:prstDash val="solid"/>
          </a:ln>
        </p:spPr>
      </p:sp>
      <p:sp>
        <p:nvSpPr>
          <p:cNvPr id="25" name="Text 17"/>
          <p:cNvSpPr txBox="1"/>
          <p:nvPr/>
        </p:nvSpPr>
        <p:spPr>
          <a:xfrm>
            <a:off x="639165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6" name="Shape 18"/>
          <p:cNvSpPr/>
          <p:nvPr/>
        </p:nvSpPr>
        <p:spPr>
          <a:xfrm>
            <a:off x="6382512" y="1545336"/>
            <a:ext cx="1682496" cy="713232"/>
          </a:xfrm>
          <a:prstGeom prst="roundRect">
            <a:avLst>
              <a:gd name="adj" fmla="val 17949"/>
            </a:avLst>
          </a:prstGeom>
          <a:solidFill>
            <a:srgbClr val="FDFFD1"/>
          </a:solidFill>
          <a:ln w="19050">
            <a:solidFill>
              <a:srgbClr val="1C1B1B"/>
            </a:solidFill>
            <a:prstDash val="solid"/>
          </a:ln>
        </p:spPr>
      </p:sp>
      <p:sp>
        <p:nvSpPr>
          <p:cNvPr id="27" name="Text 19"/>
          <p:cNvSpPr txBox="1"/>
          <p:nvPr/>
        </p:nvSpPr>
        <p:spPr>
          <a:xfrm>
            <a:off x="6473952" y="160020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【求】</a:t>
            </a:r>
            <a:endParaRPr lang="en-US" sz="900" dirty="0"/>
          </a:p>
        </p:txBody>
      </p:sp>
      <p:sp>
        <p:nvSpPr>
          <p:cNvPr id="28" name="Shape 20"/>
          <p:cNvSpPr/>
          <p:nvPr/>
        </p:nvSpPr>
        <p:spPr>
          <a:xfrm>
            <a:off x="6473952" y="1911096"/>
            <a:ext cx="475488" cy="237744"/>
          </a:xfrm>
          <a:prstGeom prst="roundRect">
            <a:avLst>
              <a:gd name="adj" fmla="val 50000"/>
            </a:avLst>
          </a:prstGeom>
          <a:solidFill>
            <a:srgbClr val="FFFFFF"/>
          </a:solidFill>
          <a:ln w="15875">
            <a:solidFill>
              <a:srgbClr val="1C1B1B"/>
            </a:solidFill>
            <a:prstDash val="solid"/>
          </a:ln>
        </p:spPr>
      </p:sp>
      <p:sp>
        <p:nvSpPr>
          <p:cNvPr id="29" name="Text 21"/>
          <p:cNvSpPr txBox="1"/>
          <p:nvPr/>
        </p:nvSpPr>
        <p:spPr>
          <a:xfrm>
            <a:off x="6473952" y="1911096"/>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プロセカ</a:t>
            </a:r>
            <a:endParaRPr lang="en-US" sz="700" dirty="0"/>
          </a:p>
        </p:txBody>
      </p:sp>
      <p:sp>
        <p:nvSpPr>
          <p:cNvPr id="30" name="Shape 22"/>
          <p:cNvSpPr/>
          <p:nvPr/>
        </p:nvSpPr>
        <p:spPr>
          <a:xfrm>
            <a:off x="6995160" y="1911096"/>
            <a:ext cx="388620" cy="237744"/>
          </a:xfrm>
          <a:prstGeom prst="roundRect">
            <a:avLst>
              <a:gd name="adj" fmla="val 50000"/>
            </a:avLst>
          </a:prstGeom>
          <a:solidFill>
            <a:srgbClr val="FFFFFF"/>
          </a:solidFill>
          <a:ln w="15875">
            <a:solidFill>
              <a:srgbClr val="1C1B1B"/>
            </a:solidFill>
            <a:prstDash val="solid"/>
          </a:ln>
        </p:spPr>
      </p:sp>
      <p:sp>
        <p:nvSpPr>
          <p:cNvPr id="31" name="Text 23"/>
          <p:cNvSpPr txBox="1"/>
          <p:nvPr/>
        </p:nvSpPr>
        <p:spPr>
          <a:xfrm>
            <a:off x="6995160" y="1911096"/>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天馬司</a:t>
            </a:r>
            <a:endParaRPr lang="en-US" sz="700" dirty="0"/>
          </a:p>
        </p:txBody>
      </p:sp>
      <p:sp>
        <p:nvSpPr>
          <p:cNvPr id="32" name="Shape 24"/>
          <p:cNvSpPr/>
          <p:nvPr/>
        </p:nvSpPr>
        <p:spPr>
          <a:xfrm>
            <a:off x="7429500" y="1911096"/>
            <a:ext cx="475488" cy="237744"/>
          </a:xfrm>
          <a:prstGeom prst="roundRect">
            <a:avLst>
              <a:gd name="adj" fmla="val 50000"/>
            </a:avLst>
          </a:prstGeom>
          <a:solidFill>
            <a:srgbClr val="FFFFFF"/>
          </a:solidFill>
          <a:ln w="15875">
            <a:solidFill>
              <a:srgbClr val="1C1B1B"/>
            </a:solidFill>
            <a:prstDash val="solid"/>
          </a:ln>
        </p:spPr>
      </p:sp>
      <p:sp>
        <p:nvSpPr>
          <p:cNvPr id="33" name="Text 25"/>
          <p:cNvSpPr txBox="1"/>
          <p:nvPr/>
        </p:nvSpPr>
        <p:spPr>
          <a:xfrm>
            <a:off x="7429500" y="1911096"/>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アクスタ</a:t>
            </a:r>
            <a:endParaRPr lang="en-US" sz="700" dirty="0"/>
          </a:p>
        </p:txBody>
      </p:sp>
      <p:sp>
        <p:nvSpPr>
          <p:cNvPr id="34" name="Shape 26"/>
          <p:cNvSpPr/>
          <p:nvPr/>
        </p:nvSpPr>
        <p:spPr>
          <a:xfrm>
            <a:off x="6382512" y="2386584"/>
            <a:ext cx="1682496" cy="713232"/>
          </a:xfrm>
          <a:prstGeom prst="roundRect">
            <a:avLst>
              <a:gd name="adj" fmla="val 17949"/>
            </a:avLst>
          </a:prstGeom>
          <a:solidFill>
            <a:srgbClr val="D7FDF6"/>
          </a:solidFill>
          <a:ln w="19050">
            <a:solidFill>
              <a:srgbClr val="1C1B1B"/>
            </a:solidFill>
            <a:prstDash val="solid"/>
          </a:ln>
        </p:spPr>
      </p:sp>
      <p:sp>
        <p:nvSpPr>
          <p:cNvPr id="35" name="Text 27"/>
          <p:cNvSpPr txBox="1"/>
          <p:nvPr/>
        </p:nvSpPr>
        <p:spPr>
          <a:xfrm>
            <a:off x="6473952" y="2441448"/>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36" name="Shape 28"/>
          <p:cNvSpPr/>
          <p:nvPr/>
        </p:nvSpPr>
        <p:spPr>
          <a:xfrm>
            <a:off x="6473952" y="2752344"/>
            <a:ext cx="475488" cy="237744"/>
          </a:xfrm>
          <a:prstGeom prst="roundRect">
            <a:avLst>
              <a:gd name="adj" fmla="val 50000"/>
            </a:avLst>
          </a:prstGeom>
          <a:solidFill>
            <a:srgbClr val="FFFFFF"/>
          </a:solidFill>
          <a:ln w="15875">
            <a:solidFill>
              <a:srgbClr val="1C1B1B"/>
            </a:solidFill>
            <a:prstDash val="solid"/>
          </a:ln>
        </p:spPr>
      </p:sp>
      <p:sp>
        <p:nvSpPr>
          <p:cNvPr id="37" name="Text 29"/>
          <p:cNvSpPr txBox="1"/>
          <p:nvPr/>
        </p:nvSpPr>
        <p:spPr>
          <a:xfrm>
            <a:off x="6473952" y="2752344"/>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プロセカ</a:t>
            </a:r>
            <a:endParaRPr lang="en-US" sz="700" dirty="0"/>
          </a:p>
        </p:txBody>
      </p:sp>
      <p:sp>
        <p:nvSpPr>
          <p:cNvPr id="38" name="Shape 30"/>
          <p:cNvSpPr/>
          <p:nvPr/>
        </p:nvSpPr>
        <p:spPr>
          <a:xfrm>
            <a:off x="6995160" y="2752344"/>
            <a:ext cx="388620" cy="237744"/>
          </a:xfrm>
          <a:prstGeom prst="roundRect">
            <a:avLst>
              <a:gd name="adj" fmla="val 50000"/>
            </a:avLst>
          </a:prstGeom>
          <a:solidFill>
            <a:srgbClr val="FFFFFF"/>
          </a:solidFill>
          <a:ln w="15875">
            <a:solidFill>
              <a:srgbClr val="1C1B1B"/>
            </a:solidFill>
            <a:prstDash val="solid"/>
          </a:ln>
        </p:spPr>
      </p:sp>
      <p:sp>
        <p:nvSpPr>
          <p:cNvPr id="39" name="Text 31"/>
          <p:cNvSpPr txBox="1"/>
          <p:nvPr/>
        </p:nvSpPr>
        <p:spPr>
          <a:xfrm>
            <a:off x="6995160" y="2752344"/>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天馬司</a:t>
            </a:r>
            <a:endParaRPr lang="en-US" sz="700" dirty="0"/>
          </a:p>
        </p:txBody>
      </p:sp>
      <p:sp>
        <p:nvSpPr>
          <p:cNvPr id="40" name="Shape 32"/>
          <p:cNvSpPr/>
          <p:nvPr/>
        </p:nvSpPr>
        <p:spPr>
          <a:xfrm>
            <a:off x="7429500" y="2752344"/>
            <a:ext cx="475488" cy="237744"/>
          </a:xfrm>
          <a:prstGeom prst="roundRect">
            <a:avLst>
              <a:gd name="adj" fmla="val 50000"/>
            </a:avLst>
          </a:prstGeom>
          <a:solidFill>
            <a:srgbClr val="FFFFFF"/>
          </a:solidFill>
          <a:ln w="15875">
            <a:solidFill>
              <a:srgbClr val="1C1B1B"/>
            </a:solidFill>
            <a:prstDash val="solid"/>
          </a:ln>
        </p:spPr>
      </p:sp>
      <p:sp>
        <p:nvSpPr>
          <p:cNvPr id="41" name="Text 33"/>
          <p:cNvSpPr txBox="1"/>
          <p:nvPr/>
        </p:nvSpPr>
        <p:spPr>
          <a:xfrm>
            <a:off x="7429500" y="2752344"/>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缶バッジ</a:t>
            </a:r>
            <a:endParaRPr lang="en-US" sz="700" dirty="0"/>
          </a:p>
        </p:txBody>
      </p:sp>
      <p:sp>
        <p:nvSpPr>
          <p:cNvPr id="42" name="Shape 34"/>
          <p:cNvSpPr/>
          <p:nvPr/>
        </p:nvSpPr>
        <p:spPr>
          <a:xfrm>
            <a:off x="6382512" y="3227832"/>
            <a:ext cx="1682496" cy="713232"/>
          </a:xfrm>
          <a:prstGeom prst="roundRect">
            <a:avLst>
              <a:gd name="adj" fmla="val 17949"/>
            </a:avLst>
          </a:prstGeom>
          <a:solidFill>
            <a:srgbClr val="D7FDF6"/>
          </a:solidFill>
          <a:ln w="19050">
            <a:solidFill>
              <a:srgbClr val="1C1B1B"/>
            </a:solidFill>
            <a:prstDash val="solid"/>
          </a:ln>
        </p:spPr>
      </p:sp>
      <p:sp>
        <p:nvSpPr>
          <p:cNvPr id="43" name="Text 35"/>
          <p:cNvSpPr txBox="1"/>
          <p:nvPr/>
        </p:nvSpPr>
        <p:spPr>
          <a:xfrm>
            <a:off x="6473952" y="3282696"/>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44" name="Shape 36"/>
          <p:cNvSpPr/>
          <p:nvPr/>
        </p:nvSpPr>
        <p:spPr>
          <a:xfrm>
            <a:off x="6473952" y="3593592"/>
            <a:ext cx="475488" cy="237744"/>
          </a:xfrm>
          <a:prstGeom prst="roundRect">
            <a:avLst>
              <a:gd name="adj" fmla="val 50000"/>
            </a:avLst>
          </a:prstGeom>
          <a:solidFill>
            <a:srgbClr val="FFFFFF"/>
          </a:solidFill>
          <a:ln w="15875">
            <a:solidFill>
              <a:srgbClr val="1C1B1B"/>
            </a:solidFill>
            <a:prstDash val="solid"/>
          </a:ln>
        </p:spPr>
      </p:sp>
      <p:sp>
        <p:nvSpPr>
          <p:cNvPr id="45" name="Text 37"/>
          <p:cNvSpPr txBox="1"/>
          <p:nvPr/>
        </p:nvSpPr>
        <p:spPr>
          <a:xfrm>
            <a:off x="6473952" y="3593592"/>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呪術廻戦</a:t>
            </a:r>
            <a:endParaRPr lang="en-US" sz="700" dirty="0"/>
          </a:p>
        </p:txBody>
      </p:sp>
      <p:sp>
        <p:nvSpPr>
          <p:cNvPr id="46" name="Shape 38"/>
          <p:cNvSpPr/>
          <p:nvPr/>
        </p:nvSpPr>
        <p:spPr>
          <a:xfrm>
            <a:off x="6995160" y="3593592"/>
            <a:ext cx="388620" cy="237744"/>
          </a:xfrm>
          <a:prstGeom prst="roundRect">
            <a:avLst>
              <a:gd name="adj" fmla="val 50000"/>
            </a:avLst>
          </a:prstGeom>
          <a:solidFill>
            <a:srgbClr val="FFFFFF"/>
          </a:solidFill>
          <a:ln w="15875">
            <a:solidFill>
              <a:srgbClr val="1C1B1B"/>
            </a:solidFill>
            <a:prstDash val="solid"/>
          </a:ln>
        </p:spPr>
      </p:sp>
      <p:sp>
        <p:nvSpPr>
          <p:cNvPr id="47" name="Text 39"/>
          <p:cNvSpPr txBox="1"/>
          <p:nvPr/>
        </p:nvSpPr>
        <p:spPr>
          <a:xfrm>
            <a:off x="6995160" y="3593592"/>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五条悟</a:t>
            </a:r>
            <a:endParaRPr lang="en-US" sz="700" dirty="0"/>
          </a:p>
        </p:txBody>
      </p:sp>
      <p:sp>
        <p:nvSpPr>
          <p:cNvPr id="48" name="Shape 40"/>
          <p:cNvSpPr/>
          <p:nvPr/>
        </p:nvSpPr>
        <p:spPr>
          <a:xfrm>
            <a:off x="7429500" y="3593592"/>
            <a:ext cx="301752" cy="237744"/>
          </a:xfrm>
          <a:prstGeom prst="roundRect">
            <a:avLst>
              <a:gd name="adj" fmla="val 50000"/>
            </a:avLst>
          </a:prstGeom>
          <a:solidFill>
            <a:srgbClr val="FFFFFF"/>
          </a:solidFill>
          <a:ln w="15875">
            <a:solidFill>
              <a:srgbClr val="1C1B1B"/>
            </a:solidFill>
            <a:prstDash val="solid"/>
          </a:ln>
        </p:spPr>
      </p:sp>
      <p:sp>
        <p:nvSpPr>
          <p:cNvPr id="49" name="Text 41"/>
          <p:cNvSpPr txBox="1"/>
          <p:nvPr/>
        </p:nvSpPr>
        <p:spPr>
          <a:xfrm>
            <a:off x="7429500" y="3593592"/>
            <a:ext cx="301752"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ぬい</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複数人での交換</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1対1で無理でも、</a:t>
            </a:r>
            <a:pPr algn="ctr" indent="0" marL="0">
              <a:buNone/>
            </a:pPr>
            <a:r>
              <a:rPr lang="en-US" sz="2400" b="1" dirty="0">
                <a:solidFill>
                  <a:srgbClr val="6B7000"/>
                </a:solidFill>
                <a:latin typeface="Yu Gothic" pitchFamily="34" charset="0"/>
                <a:ea typeface="Yu Gothic" pitchFamily="34" charset="-122"/>
                <a:cs typeface="Yu Gothic" pitchFamily="34" charset="-120"/>
              </a:rPr>
              <a:t>輪になれば成立する</a:t>
            </a:r>
            <a:endParaRPr lang="en-US" sz="2400" dirty="0"/>
          </a:p>
        </p:txBody>
      </p:sp>
      <p:sp>
        <p:nvSpPr>
          <p:cNvPr id="6" name="Text 3"/>
          <p:cNvSpPr txBox="1"/>
          <p:nvPr/>
        </p:nvSpPr>
        <p:spPr>
          <a:xfrm>
            <a:off x="457200" y="1188720"/>
            <a:ext cx="822960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欲しいものを持っている人が、自分の譲りたいものを欲しがっているとは限らない</a:t>
            </a:r>
            <a:endParaRPr lang="en-US" sz="1300" dirty="0"/>
          </a:p>
        </p:txBody>
      </p:sp>
      <p:sp>
        <p:nvSpPr>
          <p:cNvPr id="7" name="Shape 4"/>
          <p:cNvSpPr/>
          <p:nvPr/>
        </p:nvSpPr>
        <p:spPr>
          <a:xfrm>
            <a:off x="502920" y="1691640"/>
            <a:ext cx="3566160" cy="2606040"/>
          </a:xfrm>
          <a:prstGeom prst="roundRect">
            <a:avLst>
              <a:gd name="adj" fmla="val 4912"/>
            </a:avLst>
          </a:prstGeom>
          <a:solidFill>
            <a:srgbClr val="FFFFFF"/>
          </a:solidFill>
          <a:ln w="25400">
            <a:solidFill>
              <a:srgbClr val="1C1B1B"/>
            </a:solidFill>
            <a:prstDash val="dash"/>
          </a:ln>
        </p:spPr>
      </p:sp>
      <p:sp>
        <p:nvSpPr>
          <p:cNvPr id="8" name="Text 5"/>
          <p:cNvSpPr txBox="1"/>
          <p:nvPr/>
        </p:nvSpPr>
        <p:spPr>
          <a:xfrm>
            <a:off x="502920" y="1828800"/>
            <a:ext cx="3566160" cy="274320"/>
          </a:xfrm>
          <a:prstGeom prst="rect">
            <a:avLst/>
          </a:prstGeom>
          <a:noFill/>
          <a:ln/>
        </p:spPr>
        <p:txBody>
          <a:bodyPr wrap="square" lIns="0" tIns="0" rIns="0" bIns="0" rtlCol="0" anchor="ctr"/>
          <a:lstStyle/>
          <a:p>
            <a:pPr algn="ctr" indent="0" marL="0">
              <a:buNone/>
            </a:pPr>
            <a:r>
              <a:rPr lang="en-US" sz="1200" b="1" dirty="0">
                <a:solidFill>
                  <a:srgbClr val="7D7378"/>
                </a:solidFill>
                <a:latin typeface="Yu Gothic" pitchFamily="34" charset="0"/>
                <a:ea typeface="Yu Gothic" pitchFamily="34" charset="-122"/>
                <a:cs typeface="Yu Gothic" pitchFamily="34" charset="-120"/>
              </a:rPr>
              <a:t>2人だけだと</a:t>
            </a:r>
            <a:endParaRPr lang="en-US" sz="1200" dirty="0"/>
          </a:p>
        </p:txBody>
      </p:sp>
      <p:sp>
        <p:nvSpPr>
          <p:cNvPr id="9" name="Shape 6"/>
          <p:cNvSpPr/>
          <p:nvPr/>
        </p:nvSpPr>
        <p:spPr>
          <a:xfrm>
            <a:off x="868680" y="2743200"/>
            <a:ext cx="1097280" cy="384048"/>
          </a:xfrm>
          <a:prstGeom prst="roundRect">
            <a:avLst>
              <a:gd name="adj" fmla="val 50000"/>
            </a:avLst>
          </a:prstGeom>
          <a:solidFill>
            <a:srgbClr val="F8FF3E"/>
          </a:solidFill>
          <a:ln w="25400">
            <a:solidFill>
              <a:srgbClr val="1C1B1B"/>
            </a:solidFill>
            <a:prstDash val="solid"/>
          </a:ln>
        </p:spPr>
      </p:sp>
      <p:sp>
        <p:nvSpPr>
          <p:cNvPr id="10" name="Text 7"/>
          <p:cNvSpPr txBox="1"/>
          <p:nvPr/>
        </p:nvSpPr>
        <p:spPr>
          <a:xfrm>
            <a:off x="868680" y="2743200"/>
            <a:ext cx="109728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11" name="Shape 8"/>
          <p:cNvSpPr/>
          <p:nvPr/>
        </p:nvSpPr>
        <p:spPr>
          <a:xfrm>
            <a:off x="2606040" y="2743200"/>
            <a:ext cx="1097280" cy="384048"/>
          </a:xfrm>
          <a:prstGeom prst="roundRect">
            <a:avLst>
              <a:gd name="adj" fmla="val 50000"/>
            </a:avLst>
          </a:prstGeom>
          <a:solidFill>
            <a:srgbClr val="FFFFFF"/>
          </a:solidFill>
          <a:ln w="25400">
            <a:solidFill>
              <a:srgbClr val="1C1B1B"/>
            </a:solidFill>
            <a:prstDash val="solid"/>
          </a:ln>
        </p:spPr>
      </p:sp>
      <p:sp>
        <p:nvSpPr>
          <p:cNvPr id="12" name="Text 9"/>
          <p:cNvSpPr txBox="1"/>
          <p:nvPr/>
        </p:nvSpPr>
        <p:spPr>
          <a:xfrm>
            <a:off x="2606040" y="2743200"/>
            <a:ext cx="109728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3" name="Text 10"/>
          <p:cNvSpPr txBox="1"/>
          <p:nvPr/>
        </p:nvSpPr>
        <p:spPr>
          <a:xfrm>
            <a:off x="1828800" y="2304288"/>
            <a:ext cx="914400" cy="228600"/>
          </a:xfrm>
          <a:prstGeom prst="rect">
            <a:avLst/>
          </a:prstGeom>
          <a:noFill/>
          <a:ln/>
        </p:spPr>
        <p:txBody>
          <a:bodyPr wrap="square" lIns="0" tIns="0" rIns="0" bIns="0" rtlCol="0" anchor="ctr"/>
          <a:lstStyle/>
          <a:p>
            <a:pPr algn="ctr" indent="0" marL="0">
              <a:buNone/>
            </a:pPr>
            <a:r>
              <a:rPr lang="en-US" sz="1000" b="1" dirty="0">
                <a:solidFill>
                  <a:srgbClr val="00705E"/>
                </a:solidFill>
                <a:latin typeface="Yu Gothic" pitchFamily="34" charset="0"/>
                <a:ea typeface="Yu Gothic" pitchFamily="34" charset="-122"/>
                <a:cs typeface="Yu Gothic" pitchFamily="34" charset="-120"/>
              </a:rPr>
              <a:t>渡せる</a:t>
            </a:r>
            <a:endParaRPr lang="en-US" sz="1000" dirty="0"/>
          </a:p>
        </p:txBody>
      </p:sp>
      <p:sp>
        <p:nvSpPr>
          <p:cNvPr id="14" name="Shape 11"/>
          <p:cNvSpPr/>
          <p:nvPr/>
        </p:nvSpPr>
        <p:spPr>
          <a:xfrm>
            <a:off x="2011680" y="2606040"/>
            <a:ext cx="548640" cy="0"/>
          </a:xfrm>
          <a:prstGeom prst="line">
            <a:avLst/>
          </a:prstGeom>
          <a:noFill/>
          <a:ln w="28575">
            <a:solidFill>
              <a:srgbClr val="00705E"/>
            </a:solidFill>
            <a:prstDash val="solid"/>
            <a:tailEnd type="triangle"/>
          </a:ln>
        </p:spPr>
      </p:sp>
      <p:sp>
        <p:nvSpPr>
          <p:cNvPr id="15" name="Shape 12"/>
          <p:cNvSpPr/>
          <p:nvPr/>
        </p:nvSpPr>
        <p:spPr>
          <a:xfrm flipH="1">
            <a:off x="2011680" y="3310128"/>
            <a:ext cx="548640" cy="0"/>
          </a:xfrm>
          <a:prstGeom prst="line">
            <a:avLst/>
          </a:prstGeom>
          <a:noFill/>
          <a:ln w="28575">
            <a:solidFill>
              <a:srgbClr val="7D7378"/>
            </a:solidFill>
            <a:prstDash val="solid"/>
            <a:tailEnd type="triangle"/>
          </a:ln>
        </p:spPr>
      </p:sp>
      <p:sp>
        <p:nvSpPr>
          <p:cNvPr id="16" name="Shape 13"/>
          <p:cNvSpPr/>
          <p:nvPr/>
        </p:nvSpPr>
        <p:spPr>
          <a:xfrm>
            <a:off x="2093976" y="3118104"/>
            <a:ext cx="384048" cy="384048"/>
          </a:xfrm>
          <a:prstGeom prst="ellipse">
            <a:avLst/>
          </a:prstGeom>
          <a:solidFill>
            <a:srgbClr val="FFFFFF"/>
          </a:solidFill>
          <a:ln w="25400">
            <a:solidFill>
              <a:srgbClr val="1C1B1B"/>
            </a:solidFill>
            <a:prstDash val="solid"/>
          </a:ln>
        </p:spPr>
      </p:sp>
      <p:pic>
        <p:nvPicPr>
          <p:cNvPr id="17" name="Image 1" descr="preencoded.png">    </p:cNvPr>
          <p:cNvPicPr>
            <a:picLocks noChangeAspect="1"/>
          </p:cNvPicPr>
          <p:nvPr/>
        </p:nvPicPr>
        <p:blipFill>
          <a:blip r:embed="rId2"/>
          <a:stretch>
            <a:fillRect/>
          </a:stretch>
        </p:blipFill>
        <p:spPr>
          <a:xfrm>
            <a:off x="2178467" y="3202595"/>
            <a:ext cx="215067" cy="215067"/>
          </a:xfrm>
          <a:prstGeom prst="rect">
            <a:avLst/>
          </a:prstGeom>
        </p:spPr>
      </p:pic>
      <p:sp>
        <p:nvSpPr>
          <p:cNvPr id="18" name="Text 14"/>
          <p:cNvSpPr txBox="1"/>
          <p:nvPr/>
        </p:nvSpPr>
        <p:spPr>
          <a:xfrm>
            <a:off x="594360" y="3794760"/>
            <a:ext cx="3383280" cy="36576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返せるものが噛み合わず、ここで止まる</a:t>
            </a:r>
            <a:endParaRPr lang="en-US" sz="1100" dirty="0"/>
          </a:p>
        </p:txBody>
      </p:sp>
      <p:sp>
        <p:nvSpPr>
          <p:cNvPr id="19" name="Shape 15"/>
          <p:cNvSpPr/>
          <p:nvPr/>
        </p:nvSpPr>
        <p:spPr>
          <a:xfrm>
            <a:off x="4526280" y="1691640"/>
            <a:ext cx="4114800" cy="2606040"/>
          </a:xfrm>
          <a:prstGeom prst="roundRect">
            <a:avLst>
              <a:gd name="adj" fmla="val 4912"/>
            </a:avLst>
          </a:prstGeom>
          <a:solidFill>
            <a:srgbClr val="D7FDF6"/>
          </a:solidFill>
          <a:ln w="25400">
            <a:solidFill>
              <a:srgbClr val="1C1B1B"/>
            </a:solidFill>
            <a:prstDash val="solid"/>
          </a:ln>
        </p:spPr>
      </p:sp>
      <p:sp>
        <p:nvSpPr>
          <p:cNvPr id="20" name="Text 16"/>
          <p:cNvSpPr txBox="1"/>
          <p:nvPr/>
        </p:nvSpPr>
        <p:spPr>
          <a:xfrm>
            <a:off x="4526280" y="1828800"/>
            <a:ext cx="4114800" cy="274320"/>
          </a:xfrm>
          <a:prstGeom prst="rect">
            <a:avLst/>
          </a:prstGeom>
          <a:noFill/>
          <a:ln/>
        </p:spPr>
        <p:txBody>
          <a:bodyPr wrap="square" lIns="0" tIns="0" rIns="0" bIns="0" rtlCol="0" anchor="ctr"/>
          <a:lstStyle/>
          <a:p>
            <a:pPr algn="ctr" indent="0" marL="0">
              <a:buNone/>
            </a:pPr>
            <a:r>
              <a:rPr lang="en-US" sz="1200" b="1" dirty="0">
                <a:solidFill>
                  <a:srgbClr val="00705E"/>
                </a:solidFill>
                <a:latin typeface="Yu Gothic" pitchFamily="34" charset="0"/>
                <a:ea typeface="Yu Gothic" pitchFamily="34" charset="-122"/>
                <a:cs typeface="Yu Gothic" pitchFamily="34" charset="-120"/>
              </a:rPr>
              <a:t>3人の輪なら</a:t>
            </a:r>
            <a:endParaRPr lang="en-US" sz="1200" dirty="0"/>
          </a:p>
        </p:txBody>
      </p:sp>
      <p:sp>
        <p:nvSpPr>
          <p:cNvPr id="21" name="Shape 17"/>
          <p:cNvSpPr/>
          <p:nvPr/>
        </p:nvSpPr>
        <p:spPr>
          <a:xfrm>
            <a:off x="6080760" y="2194560"/>
            <a:ext cx="960120" cy="384048"/>
          </a:xfrm>
          <a:prstGeom prst="roundRect">
            <a:avLst>
              <a:gd name="adj" fmla="val 50000"/>
            </a:avLst>
          </a:prstGeom>
          <a:solidFill>
            <a:srgbClr val="F8FF3E"/>
          </a:solidFill>
          <a:ln w="25400">
            <a:solidFill>
              <a:srgbClr val="1C1B1B"/>
            </a:solidFill>
            <a:prstDash val="solid"/>
          </a:ln>
        </p:spPr>
      </p:sp>
      <p:sp>
        <p:nvSpPr>
          <p:cNvPr id="22" name="Text 18"/>
          <p:cNvSpPr txBox="1"/>
          <p:nvPr/>
        </p:nvSpPr>
        <p:spPr>
          <a:xfrm>
            <a:off x="6080760" y="2194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23" name="Shape 19"/>
          <p:cNvSpPr/>
          <p:nvPr/>
        </p:nvSpPr>
        <p:spPr>
          <a:xfrm>
            <a:off x="5120640" y="3337560"/>
            <a:ext cx="960120" cy="384048"/>
          </a:xfrm>
          <a:prstGeom prst="roundRect">
            <a:avLst>
              <a:gd name="adj" fmla="val 50000"/>
            </a:avLst>
          </a:prstGeom>
          <a:solidFill>
            <a:srgbClr val="FFFFFF"/>
          </a:solidFill>
          <a:ln w="25400">
            <a:solidFill>
              <a:srgbClr val="1C1B1B"/>
            </a:solidFill>
            <a:prstDash val="solid"/>
          </a:ln>
        </p:spPr>
      </p:sp>
      <p:sp>
        <p:nvSpPr>
          <p:cNvPr id="24" name="Text 20"/>
          <p:cNvSpPr txBox="1"/>
          <p:nvPr/>
        </p:nvSpPr>
        <p:spPr>
          <a:xfrm>
            <a:off x="5120640" y="3337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25" name="Shape 21"/>
          <p:cNvSpPr/>
          <p:nvPr/>
        </p:nvSpPr>
        <p:spPr>
          <a:xfrm>
            <a:off x="7040880" y="3337560"/>
            <a:ext cx="960120" cy="384048"/>
          </a:xfrm>
          <a:prstGeom prst="roundRect">
            <a:avLst>
              <a:gd name="adj" fmla="val 50000"/>
            </a:avLst>
          </a:prstGeom>
          <a:solidFill>
            <a:srgbClr val="FFFFFF"/>
          </a:solidFill>
          <a:ln w="25400">
            <a:solidFill>
              <a:srgbClr val="1C1B1B"/>
            </a:solidFill>
            <a:prstDash val="solid"/>
          </a:ln>
        </p:spPr>
      </p:sp>
      <p:sp>
        <p:nvSpPr>
          <p:cNvPr id="26" name="Text 22"/>
          <p:cNvSpPr txBox="1"/>
          <p:nvPr/>
        </p:nvSpPr>
        <p:spPr>
          <a:xfrm>
            <a:off x="7040880" y="3337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7" name="Shape 23"/>
          <p:cNvSpPr/>
          <p:nvPr/>
        </p:nvSpPr>
        <p:spPr>
          <a:xfrm>
            <a:off x="7086600" y="2514600"/>
            <a:ext cx="365760" cy="685800"/>
          </a:xfrm>
          <a:prstGeom prst="line">
            <a:avLst/>
          </a:prstGeom>
          <a:noFill/>
          <a:ln w="28575">
            <a:solidFill>
              <a:srgbClr val="1C1B1B"/>
            </a:solidFill>
            <a:prstDash val="solid"/>
            <a:tailEnd type="triangle"/>
          </a:ln>
        </p:spPr>
      </p:sp>
      <p:sp>
        <p:nvSpPr>
          <p:cNvPr id="28" name="Shape 24"/>
          <p:cNvSpPr/>
          <p:nvPr/>
        </p:nvSpPr>
        <p:spPr>
          <a:xfrm flipH="1">
            <a:off x="6172200" y="3529584"/>
            <a:ext cx="777240" cy="0"/>
          </a:xfrm>
          <a:prstGeom prst="line">
            <a:avLst/>
          </a:prstGeom>
          <a:noFill/>
          <a:ln w="28575">
            <a:solidFill>
              <a:srgbClr val="1C1B1B"/>
            </a:solidFill>
            <a:prstDash val="solid"/>
            <a:tailEnd type="triangle"/>
          </a:ln>
        </p:spPr>
      </p:sp>
      <p:sp>
        <p:nvSpPr>
          <p:cNvPr id="29" name="Shape 25"/>
          <p:cNvSpPr/>
          <p:nvPr/>
        </p:nvSpPr>
        <p:spPr>
          <a:xfrm flipV="1">
            <a:off x="5669280" y="2560320"/>
            <a:ext cx="365760" cy="640080"/>
          </a:xfrm>
          <a:prstGeom prst="line">
            <a:avLst/>
          </a:prstGeom>
          <a:noFill/>
          <a:ln w="28575">
            <a:solidFill>
              <a:srgbClr val="1C1B1B"/>
            </a:solidFill>
            <a:prstDash val="solid"/>
            <a:tailEnd type="triangle"/>
          </a:ln>
        </p:spPr>
      </p:sp>
      <p:sp>
        <p:nvSpPr>
          <p:cNvPr id="30" name="Text 26"/>
          <p:cNvSpPr txBox="1"/>
          <p:nvPr/>
        </p:nvSpPr>
        <p:spPr>
          <a:xfrm>
            <a:off x="4617720" y="3886200"/>
            <a:ext cx="3931920" cy="32004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全員の“欲しい”がそろう。3〜4人までの輪を自動で探す</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複数人での交換</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同じ3人でも、</a:t>
            </a:r>
            <a:pPr algn="ctr" indent="0" marL="0">
              <a:buNone/>
            </a:pPr>
            <a:r>
              <a:rPr lang="en-US" sz="2400" b="1" dirty="0">
                <a:solidFill>
                  <a:srgbClr val="6B7000"/>
                </a:solidFill>
                <a:latin typeface="Yu Gothic" pitchFamily="34" charset="0"/>
                <a:ea typeface="Yu Gothic" pitchFamily="34" charset="-122"/>
                <a:cs typeface="Yu Gothic" pitchFamily="34" charset="-120"/>
              </a:rPr>
              <a:t>近い輪</a:t>
            </a:r>
            <a:pPr algn="ctr" indent="0" marL="0">
              <a:buNone/>
            </a:pPr>
            <a:r>
              <a:rPr lang="en-US" sz="2400" b="1" dirty="0">
                <a:solidFill>
                  <a:srgbClr val="1C1B1B"/>
                </a:solidFill>
                <a:latin typeface="Yu Gothic" pitchFamily="34" charset="0"/>
                <a:ea typeface="Yu Gothic" pitchFamily="34" charset="-122"/>
                <a:cs typeface="Yu Gothic" pitchFamily="34" charset="-120"/>
              </a:rPr>
              <a:t>から提案する</a:t>
            </a:r>
            <a:endParaRPr lang="en-US" sz="2400" dirty="0"/>
          </a:p>
        </p:txBody>
      </p:sp>
      <p:sp>
        <p:nvSpPr>
          <p:cNvPr id="6" name="Text 3"/>
          <p:cNvSpPr txBox="1"/>
          <p:nvPr/>
        </p:nvSpPr>
        <p:spPr>
          <a:xfrm>
            <a:off x="457200" y="1207008"/>
            <a:ext cx="8229600" cy="320040"/>
          </a:xfrm>
          <a:prstGeom prst="rect">
            <a:avLst/>
          </a:prstGeom>
          <a:noFill/>
          <a:ln/>
        </p:spPr>
        <p:txBody>
          <a:bodyPr wrap="square" lIns="0" tIns="0" rIns="0" bIns="0" rtlCol="0" anchor="ctr"/>
          <a:lstStyle/>
          <a:p>
            <a:pPr algn="ctr" indent="0" marL="0">
              <a:buNone/>
            </a:pPr>
            <a:r>
              <a:rPr lang="en-US" sz="1300" b="1" dirty="0">
                <a:solidFill>
                  <a:srgbClr val="6B7000"/>
                </a:solidFill>
                <a:latin typeface="Yu Gothic" pitchFamily="34" charset="0"/>
                <a:ea typeface="Yu Gothic" pitchFamily="34" charset="-122"/>
                <a:cs typeface="Yu Gothic" pitchFamily="34" charset="-120"/>
              </a:rPr>
              <a:t>条件を満たす輪が複数あるときは、受け渡しの合計移動距離で選ぶ</a:t>
            </a:r>
            <a:endParaRPr lang="en-US" sz="1300" dirty="0"/>
          </a:p>
        </p:txBody>
      </p:sp>
      <p:sp>
        <p:nvSpPr>
          <p:cNvPr id="7" name="Shape 4"/>
          <p:cNvSpPr/>
          <p:nvPr/>
        </p:nvSpPr>
        <p:spPr>
          <a:xfrm>
            <a:off x="594360" y="1691640"/>
            <a:ext cx="3749040" cy="2377440"/>
          </a:xfrm>
          <a:prstGeom prst="roundRect">
            <a:avLst>
              <a:gd name="adj" fmla="val 5385"/>
            </a:avLst>
          </a:prstGeom>
          <a:solidFill>
            <a:srgbClr val="D7FDF6"/>
          </a:solidFill>
          <a:ln w="25400">
            <a:solidFill>
              <a:srgbClr val="1C1B1B"/>
            </a:solidFill>
            <a:prstDash val="solid"/>
          </a:ln>
        </p:spPr>
      </p:sp>
      <p:sp>
        <p:nvSpPr>
          <p:cNvPr id="8" name="Text 5"/>
          <p:cNvSpPr txBox="1"/>
          <p:nvPr/>
        </p:nvSpPr>
        <p:spPr>
          <a:xfrm>
            <a:off x="822960" y="1819656"/>
            <a:ext cx="1097280" cy="310896"/>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候補A</a:t>
            </a:r>
            <a:endParaRPr lang="en-US" sz="1400" dirty="0"/>
          </a:p>
        </p:txBody>
      </p:sp>
      <p:sp>
        <p:nvSpPr>
          <p:cNvPr id="9" name="Shape 6"/>
          <p:cNvSpPr/>
          <p:nvPr/>
        </p:nvSpPr>
        <p:spPr>
          <a:xfrm>
            <a:off x="2926080" y="1819656"/>
            <a:ext cx="1188720" cy="310896"/>
          </a:xfrm>
          <a:prstGeom prst="roundRect">
            <a:avLst>
              <a:gd name="adj" fmla="val 50000"/>
            </a:avLst>
          </a:prstGeom>
          <a:solidFill>
            <a:srgbClr val="F8FF3E"/>
          </a:solidFill>
          <a:ln w="22225">
            <a:solidFill>
              <a:srgbClr val="1C1B1B"/>
            </a:solidFill>
            <a:prstDash val="solid"/>
          </a:ln>
        </p:spPr>
      </p:sp>
      <p:sp>
        <p:nvSpPr>
          <p:cNvPr id="10" name="Text 7"/>
          <p:cNvSpPr txBox="1"/>
          <p:nvPr/>
        </p:nvSpPr>
        <p:spPr>
          <a:xfrm>
            <a:off x="2926080" y="1819656"/>
            <a:ext cx="1188720" cy="310896"/>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これを提案</a:t>
            </a:r>
            <a:endParaRPr lang="en-US" sz="1000" dirty="0"/>
          </a:p>
        </p:txBody>
      </p:sp>
      <p:sp>
        <p:nvSpPr>
          <p:cNvPr id="11" name="Shape 8"/>
          <p:cNvSpPr/>
          <p:nvPr/>
        </p:nvSpPr>
        <p:spPr>
          <a:xfrm>
            <a:off x="868680" y="2258568"/>
            <a:ext cx="960120" cy="384048"/>
          </a:xfrm>
          <a:prstGeom prst="roundRect">
            <a:avLst>
              <a:gd name="adj" fmla="val 50000"/>
            </a:avLst>
          </a:prstGeom>
          <a:solidFill>
            <a:srgbClr val="F8FF3E"/>
          </a:solidFill>
          <a:ln w="25400">
            <a:solidFill>
              <a:srgbClr val="1C1B1B"/>
            </a:solidFill>
            <a:prstDash val="solid"/>
          </a:ln>
        </p:spPr>
      </p:sp>
      <p:sp>
        <p:nvSpPr>
          <p:cNvPr id="12" name="Text 9"/>
          <p:cNvSpPr txBox="1"/>
          <p:nvPr/>
        </p:nvSpPr>
        <p:spPr>
          <a:xfrm>
            <a:off x="86868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13" name="Text 10"/>
          <p:cNvSpPr txBox="1"/>
          <p:nvPr/>
        </p:nvSpPr>
        <p:spPr>
          <a:xfrm>
            <a:off x="1874520" y="22585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4km</a:t>
            </a:r>
            <a:endParaRPr lang="en-US" sz="1100" dirty="0"/>
          </a:p>
        </p:txBody>
      </p:sp>
      <p:sp>
        <p:nvSpPr>
          <p:cNvPr id="14" name="Shape 11"/>
          <p:cNvSpPr/>
          <p:nvPr/>
        </p:nvSpPr>
        <p:spPr>
          <a:xfrm>
            <a:off x="3017520" y="2258568"/>
            <a:ext cx="960120" cy="384048"/>
          </a:xfrm>
          <a:prstGeom prst="roundRect">
            <a:avLst>
              <a:gd name="adj" fmla="val 50000"/>
            </a:avLst>
          </a:prstGeom>
          <a:solidFill>
            <a:srgbClr val="FFFFFF"/>
          </a:solidFill>
          <a:ln w="25400">
            <a:solidFill>
              <a:srgbClr val="1C1B1B"/>
            </a:solidFill>
            <a:prstDash val="solid"/>
          </a:ln>
        </p:spPr>
      </p:sp>
      <p:sp>
        <p:nvSpPr>
          <p:cNvPr id="15" name="Text 12"/>
          <p:cNvSpPr txBox="1"/>
          <p:nvPr/>
        </p:nvSpPr>
        <p:spPr>
          <a:xfrm>
            <a:off x="301752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6" name="Shape 13"/>
          <p:cNvSpPr/>
          <p:nvPr/>
        </p:nvSpPr>
        <p:spPr>
          <a:xfrm>
            <a:off x="868680" y="2715768"/>
            <a:ext cx="960120" cy="384048"/>
          </a:xfrm>
          <a:prstGeom prst="roundRect">
            <a:avLst>
              <a:gd name="adj" fmla="val 50000"/>
            </a:avLst>
          </a:prstGeom>
          <a:solidFill>
            <a:srgbClr val="FFFFFF"/>
          </a:solidFill>
          <a:ln w="25400">
            <a:solidFill>
              <a:srgbClr val="1C1B1B"/>
            </a:solidFill>
            <a:prstDash val="solid"/>
          </a:ln>
        </p:spPr>
      </p:sp>
      <p:sp>
        <p:nvSpPr>
          <p:cNvPr id="17" name="Text 14"/>
          <p:cNvSpPr txBox="1"/>
          <p:nvPr/>
        </p:nvSpPr>
        <p:spPr>
          <a:xfrm>
            <a:off x="86868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8" name="Text 15"/>
          <p:cNvSpPr txBox="1"/>
          <p:nvPr/>
        </p:nvSpPr>
        <p:spPr>
          <a:xfrm>
            <a:off x="1874520" y="27157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3km</a:t>
            </a:r>
            <a:endParaRPr lang="en-US" sz="1100" dirty="0"/>
          </a:p>
        </p:txBody>
      </p:sp>
      <p:sp>
        <p:nvSpPr>
          <p:cNvPr id="19" name="Shape 16"/>
          <p:cNvSpPr/>
          <p:nvPr/>
        </p:nvSpPr>
        <p:spPr>
          <a:xfrm>
            <a:off x="3017520" y="2715768"/>
            <a:ext cx="960120" cy="384048"/>
          </a:xfrm>
          <a:prstGeom prst="roundRect">
            <a:avLst>
              <a:gd name="adj" fmla="val 50000"/>
            </a:avLst>
          </a:prstGeom>
          <a:solidFill>
            <a:srgbClr val="FFFFFF"/>
          </a:solidFill>
          <a:ln w="25400">
            <a:solidFill>
              <a:srgbClr val="1C1B1B"/>
            </a:solidFill>
            <a:prstDash val="solid"/>
          </a:ln>
        </p:spPr>
      </p:sp>
      <p:sp>
        <p:nvSpPr>
          <p:cNvPr id="20" name="Text 17"/>
          <p:cNvSpPr txBox="1"/>
          <p:nvPr/>
        </p:nvSpPr>
        <p:spPr>
          <a:xfrm>
            <a:off x="301752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1" name="Shape 18"/>
          <p:cNvSpPr/>
          <p:nvPr/>
        </p:nvSpPr>
        <p:spPr>
          <a:xfrm>
            <a:off x="868680" y="3172968"/>
            <a:ext cx="960120" cy="384048"/>
          </a:xfrm>
          <a:prstGeom prst="roundRect">
            <a:avLst>
              <a:gd name="adj" fmla="val 50000"/>
            </a:avLst>
          </a:prstGeom>
          <a:solidFill>
            <a:srgbClr val="FFFFFF"/>
          </a:solidFill>
          <a:ln w="25400">
            <a:solidFill>
              <a:srgbClr val="1C1B1B"/>
            </a:solidFill>
            <a:prstDash val="solid"/>
          </a:ln>
        </p:spPr>
      </p:sp>
      <p:sp>
        <p:nvSpPr>
          <p:cNvPr id="22" name="Text 19"/>
          <p:cNvSpPr txBox="1"/>
          <p:nvPr/>
        </p:nvSpPr>
        <p:spPr>
          <a:xfrm>
            <a:off x="86868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3" name="Text 20"/>
          <p:cNvSpPr txBox="1"/>
          <p:nvPr/>
        </p:nvSpPr>
        <p:spPr>
          <a:xfrm>
            <a:off x="1874520" y="31729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5km</a:t>
            </a:r>
            <a:endParaRPr lang="en-US" sz="1100" dirty="0"/>
          </a:p>
        </p:txBody>
      </p:sp>
      <p:sp>
        <p:nvSpPr>
          <p:cNvPr id="24" name="Shape 21"/>
          <p:cNvSpPr/>
          <p:nvPr/>
        </p:nvSpPr>
        <p:spPr>
          <a:xfrm>
            <a:off x="3017520" y="3172968"/>
            <a:ext cx="960120" cy="384048"/>
          </a:xfrm>
          <a:prstGeom prst="roundRect">
            <a:avLst>
              <a:gd name="adj" fmla="val 50000"/>
            </a:avLst>
          </a:prstGeom>
          <a:solidFill>
            <a:srgbClr val="F8FF3E"/>
          </a:solidFill>
          <a:ln w="25400">
            <a:solidFill>
              <a:srgbClr val="1C1B1B"/>
            </a:solidFill>
            <a:prstDash val="solid"/>
          </a:ln>
        </p:spPr>
      </p:sp>
      <p:sp>
        <p:nvSpPr>
          <p:cNvPr id="25" name="Text 22"/>
          <p:cNvSpPr txBox="1"/>
          <p:nvPr/>
        </p:nvSpPr>
        <p:spPr>
          <a:xfrm>
            <a:off x="301752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26" name="Shape 23"/>
          <p:cNvSpPr/>
          <p:nvPr/>
        </p:nvSpPr>
        <p:spPr>
          <a:xfrm>
            <a:off x="868680" y="3630168"/>
            <a:ext cx="3200400" cy="0"/>
          </a:xfrm>
          <a:prstGeom prst="line">
            <a:avLst/>
          </a:prstGeom>
          <a:noFill/>
          <a:ln w="15875">
            <a:solidFill>
              <a:srgbClr val="1C1B1B"/>
            </a:solidFill>
            <a:prstDash val="dash"/>
          </a:ln>
        </p:spPr>
      </p:sp>
      <p:sp>
        <p:nvSpPr>
          <p:cNvPr id="27" name="Text 24"/>
          <p:cNvSpPr txBox="1"/>
          <p:nvPr/>
        </p:nvSpPr>
        <p:spPr>
          <a:xfrm>
            <a:off x="594360" y="3685032"/>
            <a:ext cx="3749040" cy="347472"/>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2200" b="1" dirty="0">
                <a:solidFill>
                  <a:srgbClr val="6B7000"/>
                </a:solidFill>
                <a:latin typeface="Yu Gothic" pitchFamily="34" charset="0"/>
                <a:ea typeface="Yu Gothic" pitchFamily="34" charset="-122"/>
                <a:cs typeface="Yu Gothic" pitchFamily="34" charset="-120"/>
              </a:rPr>
              <a:t>12km</a:t>
            </a:r>
            <a:endParaRPr lang="en-US" sz="1200" dirty="0"/>
          </a:p>
        </p:txBody>
      </p:sp>
      <p:sp>
        <p:nvSpPr>
          <p:cNvPr id="28" name="Shape 25"/>
          <p:cNvSpPr/>
          <p:nvPr/>
        </p:nvSpPr>
        <p:spPr>
          <a:xfrm>
            <a:off x="4800600" y="1691640"/>
            <a:ext cx="3749040" cy="2377440"/>
          </a:xfrm>
          <a:prstGeom prst="roundRect">
            <a:avLst>
              <a:gd name="adj" fmla="val 5385"/>
            </a:avLst>
          </a:prstGeom>
          <a:solidFill>
            <a:srgbClr val="FFFFFF"/>
          </a:solidFill>
          <a:ln w="25400">
            <a:solidFill>
              <a:srgbClr val="1C1B1B"/>
            </a:solidFill>
            <a:prstDash val="dash"/>
          </a:ln>
        </p:spPr>
      </p:sp>
      <p:sp>
        <p:nvSpPr>
          <p:cNvPr id="29" name="Text 26"/>
          <p:cNvSpPr txBox="1"/>
          <p:nvPr/>
        </p:nvSpPr>
        <p:spPr>
          <a:xfrm>
            <a:off x="5029200" y="1819656"/>
            <a:ext cx="1097280" cy="310896"/>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候補B</a:t>
            </a:r>
            <a:endParaRPr lang="en-US" sz="1400" dirty="0"/>
          </a:p>
        </p:txBody>
      </p:sp>
      <p:sp>
        <p:nvSpPr>
          <p:cNvPr id="30" name="Shape 27"/>
          <p:cNvSpPr/>
          <p:nvPr/>
        </p:nvSpPr>
        <p:spPr>
          <a:xfrm>
            <a:off x="7132320" y="1819656"/>
            <a:ext cx="1188720" cy="310896"/>
          </a:xfrm>
          <a:prstGeom prst="roundRect">
            <a:avLst>
              <a:gd name="adj" fmla="val 50000"/>
            </a:avLst>
          </a:prstGeom>
          <a:solidFill>
            <a:srgbClr val="F4F4F7"/>
          </a:solidFill>
          <a:ln w="22225">
            <a:solidFill>
              <a:srgbClr val="1C1B1B"/>
            </a:solidFill>
            <a:prstDash val="solid"/>
          </a:ln>
        </p:spPr>
      </p:sp>
      <p:sp>
        <p:nvSpPr>
          <p:cNvPr id="31" name="Text 28"/>
          <p:cNvSpPr txBox="1"/>
          <p:nvPr/>
        </p:nvSpPr>
        <p:spPr>
          <a:xfrm>
            <a:off x="7132320" y="1819656"/>
            <a:ext cx="1188720" cy="310896"/>
          </a:xfrm>
          <a:prstGeom prst="rect">
            <a:avLst/>
          </a:prstGeom>
          <a:noFill/>
          <a:ln/>
        </p:spPr>
        <p:txBody>
          <a:bodyPr wrap="square" lIns="0" tIns="0" rIns="0" bIns="0" rtlCol="0" anchor="ctr"/>
          <a:lstStyle/>
          <a:p>
            <a:pPr algn="ctr" indent="0" marL="0">
              <a:buNone/>
            </a:pPr>
            <a:r>
              <a:rPr lang="en-US" sz="1000" b="1" dirty="0">
                <a:solidFill>
                  <a:srgbClr val="7D7378"/>
                </a:solidFill>
                <a:latin typeface="Yu Gothic" pitchFamily="34" charset="0"/>
                <a:ea typeface="Yu Gothic" pitchFamily="34" charset="-122"/>
                <a:cs typeface="Yu Gothic" pitchFamily="34" charset="-120"/>
              </a:rPr>
              <a:t>見送り</a:t>
            </a:r>
            <a:endParaRPr lang="en-US" sz="1000" dirty="0"/>
          </a:p>
        </p:txBody>
      </p:sp>
      <p:sp>
        <p:nvSpPr>
          <p:cNvPr id="32" name="Shape 29"/>
          <p:cNvSpPr/>
          <p:nvPr/>
        </p:nvSpPr>
        <p:spPr>
          <a:xfrm>
            <a:off x="5074920" y="2258568"/>
            <a:ext cx="960120" cy="384048"/>
          </a:xfrm>
          <a:prstGeom prst="roundRect">
            <a:avLst>
              <a:gd name="adj" fmla="val 50000"/>
            </a:avLst>
          </a:prstGeom>
          <a:solidFill>
            <a:srgbClr val="F8FF3E"/>
          </a:solidFill>
          <a:ln w="25400">
            <a:solidFill>
              <a:srgbClr val="1C1B1B"/>
            </a:solidFill>
            <a:prstDash val="solid"/>
          </a:ln>
        </p:spPr>
      </p:sp>
      <p:sp>
        <p:nvSpPr>
          <p:cNvPr id="33" name="Text 30"/>
          <p:cNvSpPr txBox="1"/>
          <p:nvPr/>
        </p:nvSpPr>
        <p:spPr>
          <a:xfrm>
            <a:off x="507492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34" name="Text 31"/>
          <p:cNvSpPr txBox="1"/>
          <p:nvPr/>
        </p:nvSpPr>
        <p:spPr>
          <a:xfrm>
            <a:off x="6080760" y="22585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15km</a:t>
            </a:r>
            <a:endParaRPr lang="en-US" sz="1100" dirty="0"/>
          </a:p>
        </p:txBody>
      </p:sp>
      <p:sp>
        <p:nvSpPr>
          <p:cNvPr id="35" name="Shape 32"/>
          <p:cNvSpPr/>
          <p:nvPr/>
        </p:nvSpPr>
        <p:spPr>
          <a:xfrm>
            <a:off x="7223760" y="2258568"/>
            <a:ext cx="960120" cy="384048"/>
          </a:xfrm>
          <a:prstGeom prst="roundRect">
            <a:avLst>
              <a:gd name="adj" fmla="val 50000"/>
            </a:avLst>
          </a:prstGeom>
          <a:solidFill>
            <a:srgbClr val="FFFFFF"/>
          </a:solidFill>
          <a:ln w="25400">
            <a:solidFill>
              <a:srgbClr val="1C1B1B"/>
            </a:solidFill>
            <a:prstDash val="solid"/>
          </a:ln>
        </p:spPr>
      </p:sp>
      <p:sp>
        <p:nvSpPr>
          <p:cNvPr id="36" name="Text 33"/>
          <p:cNvSpPr txBox="1"/>
          <p:nvPr/>
        </p:nvSpPr>
        <p:spPr>
          <a:xfrm>
            <a:off x="722376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37" name="Shape 34"/>
          <p:cNvSpPr/>
          <p:nvPr/>
        </p:nvSpPr>
        <p:spPr>
          <a:xfrm>
            <a:off x="5074920" y="2715768"/>
            <a:ext cx="960120" cy="384048"/>
          </a:xfrm>
          <a:prstGeom prst="roundRect">
            <a:avLst>
              <a:gd name="adj" fmla="val 50000"/>
            </a:avLst>
          </a:prstGeom>
          <a:solidFill>
            <a:srgbClr val="FFFFFF"/>
          </a:solidFill>
          <a:ln w="25400">
            <a:solidFill>
              <a:srgbClr val="1C1B1B"/>
            </a:solidFill>
            <a:prstDash val="solid"/>
          </a:ln>
        </p:spPr>
      </p:sp>
      <p:sp>
        <p:nvSpPr>
          <p:cNvPr id="38" name="Text 35"/>
          <p:cNvSpPr txBox="1"/>
          <p:nvPr/>
        </p:nvSpPr>
        <p:spPr>
          <a:xfrm>
            <a:off x="507492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39" name="Text 36"/>
          <p:cNvSpPr txBox="1"/>
          <p:nvPr/>
        </p:nvSpPr>
        <p:spPr>
          <a:xfrm>
            <a:off x="6080760" y="27157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11km</a:t>
            </a:r>
            <a:endParaRPr lang="en-US" sz="1100" dirty="0"/>
          </a:p>
        </p:txBody>
      </p:sp>
      <p:sp>
        <p:nvSpPr>
          <p:cNvPr id="40" name="Shape 37"/>
          <p:cNvSpPr/>
          <p:nvPr/>
        </p:nvSpPr>
        <p:spPr>
          <a:xfrm>
            <a:off x="7223760" y="2715768"/>
            <a:ext cx="960120" cy="384048"/>
          </a:xfrm>
          <a:prstGeom prst="roundRect">
            <a:avLst>
              <a:gd name="adj" fmla="val 50000"/>
            </a:avLst>
          </a:prstGeom>
          <a:solidFill>
            <a:srgbClr val="FFFFFF"/>
          </a:solidFill>
          <a:ln w="25400">
            <a:solidFill>
              <a:srgbClr val="1C1B1B"/>
            </a:solidFill>
            <a:prstDash val="solid"/>
          </a:ln>
        </p:spPr>
      </p:sp>
      <p:sp>
        <p:nvSpPr>
          <p:cNvPr id="41" name="Text 38"/>
          <p:cNvSpPr txBox="1"/>
          <p:nvPr/>
        </p:nvSpPr>
        <p:spPr>
          <a:xfrm>
            <a:off x="722376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42" name="Shape 39"/>
          <p:cNvSpPr/>
          <p:nvPr/>
        </p:nvSpPr>
        <p:spPr>
          <a:xfrm>
            <a:off x="5074920" y="3172968"/>
            <a:ext cx="960120" cy="384048"/>
          </a:xfrm>
          <a:prstGeom prst="roundRect">
            <a:avLst>
              <a:gd name="adj" fmla="val 50000"/>
            </a:avLst>
          </a:prstGeom>
          <a:solidFill>
            <a:srgbClr val="FFFFFF"/>
          </a:solidFill>
          <a:ln w="25400">
            <a:solidFill>
              <a:srgbClr val="1C1B1B"/>
            </a:solidFill>
            <a:prstDash val="solid"/>
          </a:ln>
        </p:spPr>
      </p:sp>
      <p:sp>
        <p:nvSpPr>
          <p:cNvPr id="43" name="Text 40"/>
          <p:cNvSpPr txBox="1"/>
          <p:nvPr/>
        </p:nvSpPr>
        <p:spPr>
          <a:xfrm>
            <a:off x="507492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44" name="Text 41"/>
          <p:cNvSpPr txBox="1"/>
          <p:nvPr/>
        </p:nvSpPr>
        <p:spPr>
          <a:xfrm>
            <a:off x="6080760" y="31729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12km</a:t>
            </a:r>
            <a:endParaRPr lang="en-US" sz="1100" dirty="0"/>
          </a:p>
        </p:txBody>
      </p:sp>
      <p:sp>
        <p:nvSpPr>
          <p:cNvPr id="45" name="Shape 42"/>
          <p:cNvSpPr/>
          <p:nvPr/>
        </p:nvSpPr>
        <p:spPr>
          <a:xfrm>
            <a:off x="7223760" y="3172968"/>
            <a:ext cx="960120" cy="384048"/>
          </a:xfrm>
          <a:prstGeom prst="roundRect">
            <a:avLst>
              <a:gd name="adj" fmla="val 50000"/>
            </a:avLst>
          </a:prstGeom>
          <a:solidFill>
            <a:srgbClr val="F8FF3E"/>
          </a:solidFill>
          <a:ln w="25400">
            <a:solidFill>
              <a:srgbClr val="1C1B1B"/>
            </a:solidFill>
            <a:prstDash val="solid"/>
          </a:ln>
        </p:spPr>
      </p:sp>
      <p:sp>
        <p:nvSpPr>
          <p:cNvPr id="46" name="Text 43"/>
          <p:cNvSpPr txBox="1"/>
          <p:nvPr/>
        </p:nvSpPr>
        <p:spPr>
          <a:xfrm>
            <a:off x="722376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あなた</a:t>
            </a:r>
            <a:endParaRPr lang="en-US" sz="1100" dirty="0"/>
          </a:p>
        </p:txBody>
      </p:sp>
      <p:sp>
        <p:nvSpPr>
          <p:cNvPr id="47" name="Shape 44"/>
          <p:cNvSpPr/>
          <p:nvPr/>
        </p:nvSpPr>
        <p:spPr>
          <a:xfrm>
            <a:off x="5074920" y="3630168"/>
            <a:ext cx="3200400" cy="0"/>
          </a:xfrm>
          <a:prstGeom prst="line">
            <a:avLst/>
          </a:prstGeom>
          <a:noFill/>
          <a:ln w="15875">
            <a:solidFill>
              <a:srgbClr val="1C1B1B"/>
            </a:solidFill>
            <a:prstDash val="dash"/>
          </a:ln>
        </p:spPr>
      </p:sp>
      <p:sp>
        <p:nvSpPr>
          <p:cNvPr id="48" name="Text 45"/>
          <p:cNvSpPr txBox="1"/>
          <p:nvPr/>
        </p:nvSpPr>
        <p:spPr>
          <a:xfrm>
            <a:off x="4800600" y="3685032"/>
            <a:ext cx="3749040" cy="347472"/>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2200" b="1" dirty="0">
                <a:solidFill>
                  <a:srgbClr val="7D7378"/>
                </a:solidFill>
                <a:latin typeface="Yu Gothic" pitchFamily="34" charset="0"/>
                <a:ea typeface="Yu Gothic" pitchFamily="34" charset="-122"/>
                <a:cs typeface="Yu Gothic" pitchFamily="34" charset="-120"/>
              </a:rPr>
              <a:t>38km</a:t>
            </a:r>
            <a:endParaRPr lang="en-US" sz="1200" dirty="0"/>
          </a:p>
        </p:txBody>
      </p:sp>
      <p:sp>
        <p:nvSpPr>
          <p:cNvPr id="49" name="Text 46"/>
          <p:cNvSpPr txBox="1"/>
          <p:nvPr/>
        </p:nvSpPr>
        <p:spPr>
          <a:xfrm>
            <a:off x="457200" y="4297680"/>
            <a:ext cx="8229600" cy="36576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タグの条件はどちらも満たしている。分かれ目は、実際に会って渡せる距離かどうか。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今の交換は、</a:t>
            </a:r>
            <a:pPr algn="ctr" indent="0" marL="0">
              <a:buNone/>
            </a:pPr>
            <a:r>
              <a:rPr lang="en-US" sz="2400" b="1" dirty="0">
                <a:solidFill>
                  <a:srgbClr val="6B7000"/>
                </a:solidFill>
                <a:latin typeface="Yu Gothic" pitchFamily="34" charset="0"/>
                <a:ea typeface="Yu Gothic" pitchFamily="34" charset="-122"/>
                <a:cs typeface="Yu Gothic" pitchFamily="34" charset="-120"/>
              </a:rPr>
              <a:t>タイムラインを追い続ける</a:t>
            </a:r>
            <a:pPr algn="ctr" indent="0" marL="0">
              <a:buNone/>
            </a:pPr>
            <a:r>
              <a:rPr lang="en-US" sz="2400" b="1" dirty="0">
                <a:solidFill>
                  <a:srgbClr val="1C1B1B"/>
                </a:solidFill>
                <a:latin typeface="Yu Gothic" pitchFamily="34" charset="0"/>
                <a:ea typeface="Yu Gothic" pitchFamily="34" charset="-122"/>
                <a:cs typeface="Yu Gothic" pitchFamily="34" charset="-120"/>
              </a:rPr>
              <a:t>ことが前提</a:t>
            </a:r>
            <a:endParaRPr lang="en-US" sz="2400" dirty="0"/>
          </a:p>
        </p:txBody>
      </p:sp>
      <p:sp>
        <p:nvSpPr>
          <p:cNvPr id="6" name="Shape 3"/>
          <p:cNvSpPr/>
          <p:nvPr/>
        </p:nvSpPr>
        <p:spPr>
          <a:xfrm>
            <a:off x="1417320" y="1828800"/>
            <a:ext cx="1280160" cy="1280160"/>
          </a:xfrm>
          <a:prstGeom prst="ellipse">
            <a:avLst/>
          </a:prstGeom>
          <a:solidFill>
            <a:srgbClr val="F4F4F7"/>
          </a:solidFill>
          <a:ln w="25400">
            <a:solidFill>
              <a:srgbClr val="1C1B1B"/>
            </a:solidFill>
            <a:prstDash val="solid"/>
          </a:ln>
        </p:spPr>
      </p:sp>
      <p:pic>
        <p:nvPicPr>
          <p:cNvPr id="7" name="Image 1" descr="preencoded.png">    </p:cNvPr>
          <p:cNvPicPr>
            <a:picLocks noChangeAspect="1"/>
          </p:cNvPicPr>
          <p:nvPr/>
        </p:nvPicPr>
        <p:blipFill>
          <a:blip r:embed="rId2"/>
          <a:stretch>
            <a:fillRect/>
          </a:stretch>
        </p:blipFill>
        <p:spPr>
          <a:xfrm>
            <a:off x="1698955" y="2110435"/>
            <a:ext cx="716890" cy="716890"/>
          </a:xfrm>
          <a:prstGeom prst="rect">
            <a:avLst/>
          </a:prstGeom>
        </p:spPr>
      </p:pic>
      <p:sp>
        <p:nvSpPr>
          <p:cNvPr id="8" name="Text 4"/>
          <p:cNvSpPr txBox="1"/>
          <p:nvPr/>
        </p:nvSpPr>
        <p:spPr>
          <a:xfrm>
            <a:off x="640080" y="3291840"/>
            <a:ext cx="2834640" cy="731520"/>
          </a:xfrm>
          <a:prstGeom prst="rect">
            <a:avLst/>
          </a:prstGeom>
          <a:noFill/>
          <a:ln/>
        </p:spPr>
        <p:txBody>
          <a:bodyPr wrap="square" lIns="0" tIns="0" rIns="0" bIns="0" rtlCol="0" anchor="ctr"/>
          <a:lstStyle/>
          <a:p>
            <a:pPr algn="ctr" indent="0" marL="0">
              <a:lnSpc>
                <a:spcPct val="120000"/>
              </a:lnSpc>
              <a:buNone/>
            </a:pPr>
            <a:r>
              <a:rPr lang="en-US" sz="1300" b="1" dirty="0">
                <a:solidFill>
                  <a:srgbClr val="1C1B1B"/>
                </a:solidFill>
                <a:latin typeface="Yu Gothic" pitchFamily="34" charset="0"/>
                <a:ea typeface="Yu Gothic" pitchFamily="34" charset="-122"/>
                <a:cs typeface="Yu Gothic" pitchFamily="34" charset="-120"/>
              </a:rPr>
              <a:t>分かってはいるけど、</a:t>
            </a:r>
            <a:endParaRPr lang="en-US" sz="1300" dirty="0"/>
          </a:p>
          <a:p>
            <a:pPr algn="ctr" indent="0" marL="0">
              <a:lnSpc>
                <a:spcPct val="120000"/>
              </a:lnSpc>
              <a:buNone/>
            </a:pPr>
            <a:r>
              <a:rPr lang="en-US" sz="1300" b="1" dirty="0">
                <a:solidFill>
                  <a:srgbClr val="1C1B1B"/>
                </a:solidFill>
                <a:latin typeface="Yu Gothic" pitchFamily="34" charset="0"/>
                <a:ea typeface="Yu Gothic" pitchFamily="34" charset="-122"/>
                <a:cs typeface="Yu Gothic" pitchFamily="34" charset="-120"/>
              </a:rPr>
              <a:t>毎日追いかけるのは大変…</a:t>
            </a:r>
            <a:endParaRPr lang="en-US" sz="1300" dirty="0"/>
          </a:p>
        </p:txBody>
      </p:sp>
      <p:sp>
        <p:nvSpPr>
          <p:cNvPr id="9" name="Text 5"/>
          <p:cNvSpPr txBox="1"/>
          <p:nvPr/>
        </p:nvSpPr>
        <p:spPr>
          <a:xfrm>
            <a:off x="365760" y="4114800"/>
            <a:ext cx="3383280" cy="365760"/>
          </a:xfrm>
          <a:prstGeom prst="rect">
            <a:avLst/>
          </a:prstGeom>
          <a:noFill/>
          <a:ln/>
        </p:spPr>
        <p:txBody>
          <a:bodyPr wrap="square" lIns="0" tIns="0" rIns="0" bIns="0" rtlCol="0" anchor="ctr"/>
          <a:lstStyle/>
          <a:p>
            <a:pPr algn="ctr" indent="0" marL="0">
              <a:buNone/>
            </a:pPr>
            <a:r>
              <a:rPr lang="en-US" sz="1000" b="1" dirty="0">
                <a:solidFill>
                  <a:srgbClr val="7D7378"/>
                </a:solidFill>
                <a:latin typeface="Yu Gothic" pitchFamily="34" charset="0"/>
                <a:ea typeface="Yu Gothic" pitchFamily="34" charset="-122"/>
                <a:cs typeface="Yu Gothic" pitchFamily="34" charset="-120"/>
              </a:rPr>
              <a:t>投稿を探す → DMで交渉 → 合わなければやり直し</a:t>
            </a:r>
            <a:endParaRPr lang="en-US" sz="1000" dirty="0"/>
          </a:p>
        </p:txBody>
      </p:sp>
      <p:sp>
        <p:nvSpPr>
          <p:cNvPr id="10" name="Shape 6"/>
          <p:cNvSpPr/>
          <p:nvPr/>
        </p:nvSpPr>
        <p:spPr>
          <a:xfrm>
            <a:off x="4937760" y="1371600"/>
            <a:ext cx="2377440" cy="3611880"/>
          </a:xfrm>
          <a:prstGeom prst="roundRect">
            <a:avLst>
              <a:gd name="adj" fmla="val 12308"/>
            </a:avLst>
          </a:prstGeom>
          <a:solidFill>
            <a:srgbClr val="1C1B1B"/>
          </a:solidFill>
          <a:ln w="12700">
            <a:solidFill>
              <a:srgbClr val="1C1B1B"/>
            </a:solidFill>
            <a:prstDash val="solid"/>
          </a:ln>
        </p:spPr>
      </p:sp>
      <p:sp>
        <p:nvSpPr>
          <p:cNvPr id="11" name="Shape 7"/>
          <p:cNvSpPr/>
          <p:nvPr/>
        </p:nvSpPr>
        <p:spPr>
          <a:xfrm>
            <a:off x="5020056" y="1453896"/>
            <a:ext cx="2212848" cy="3447288"/>
          </a:xfrm>
          <a:prstGeom prst="roundRect">
            <a:avLst>
              <a:gd name="adj" fmla="val 10331"/>
            </a:avLst>
          </a:prstGeom>
          <a:solidFill>
            <a:srgbClr val="2A2828"/>
          </a:solidFill>
          <a:ln w="12700">
            <a:solidFill>
              <a:srgbClr val="2A2828"/>
            </a:solidFill>
            <a:prstDash val="solid"/>
          </a:ln>
        </p:spPr>
      </p:sp>
      <p:sp>
        <p:nvSpPr>
          <p:cNvPr id="12" name="Shape 8"/>
          <p:cNvSpPr/>
          <p:nvPr/>
        </p:nvSpPr>
        <p:spPr>
          <a:xfrm>
            <a:off x="5806440" y="1517904"/>
            <a:ext cx="640080" cy="128016"/>
          </a:xfrm>
          <a:prstGeom prst="roundRect">
            <a:avLst>
              <a:gd name="adj" fmla="val 50000"/>
            </a:avLst>
          </a:prstGeom>
          <a:solidFill>
            <a:srgbClr val="1C1B1B"/>
          </a:solidFill>
          <a:ln w="12700">
            <a:solidFill>
              <a:srgbClr val="1C1B1B"/>
            </a:solidFill>
            <a:prstDash val="solid"/>
          </a:ln>
        </p:spPr>
      </p:sp>
      <p:sp>
        <p:nvSpPr>
          <p:cNvPr id="13" name="Shape 9"/>
          <p:cNvSpPr/>
          <p:nvPr/>
        </p:nvSpPr>
        <p:spPr>
          <a:xfrm>
            <a:off x="5148072" y="1819656"/>
            <a:ext cx="256032" cy="256032"/>
          </a:xfrm>
          <a:prstGeom prst="ellipse">
            <a:avLst/>
          </a:prstGeom>
          <a:solidFill>
            <a:srgbClr val="555252"/>
          </a:solidFill>
          <a:ln w="12700">
            <a:solidFill>
              <a:srgbClr val="555252"/>
            </a:solidFill>
            <a:prstDash val="solid"/>
          </a:ln>
        </p:spPr>
      </p:sp>
      <p:sp>
        <p:nvSpPr>
          <p:cNvPr id="14" name="Text 10"/>
          <p:cNvSpPr txBox="1"/>
          <p:nvPr/>
        </p:nvSpPr>
        <p:spPr>
          <a:xfrm>
            <a:off x="5477256" y="1773936"/>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【譲】天馬司 缶バッジ</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【求】草薙寧々 アクスタ</a:t>
            </a:r>
            <a:endParaRPr lang="en-US" sz="800" dirty="0"/>
          </a:p>
        </p:txBody>
      </p:sp>
      <p:sp>
        <p:nvSpPr>
          <p:cNvPr id="15" name="Shape 11"/>
          <p:cNvSpPr/>
          <p:nvPr/>
        </p:nvSpPr>
        <p:spPr>
          <a:xfrm>
            <a:off x="5148072" y="2478024"/>
            <a:ext cx="256032" cy="256032"/>
          </a:xfrm>
          <a:prstGeom prst="ellipse">
            <a:avLst/>
          </a:prstGeom>
          <a:solidFill>
            <a:srgbClr val="555252"/>
          </a:solidFill>
          <a:ln w="12700">
            <a:solidFill>
              <a:srgbClr val="555252"/>
            </a:solidFill>
            <a:prstDash val="solid"/>
          </a:ln>
        </p:spPr>
      </p:sp>
      <p:sp>
        <p:nvSpPr>
          <p:cNvPr id="16" name="Text 12"/>
          <p:cNvSpPr txBox="1"/>
          <p:nvPr/>
        </p:nvSpPr>
        <p:spPr>
          <a:xfrm>
            <a:off x="5477256" y="2432304"/>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【求】五条 アクスタ</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【譲】夏油 ぬい</a:t>
            </a:r>
            <a:endParaRPr lang="en-US" sz="800" dirty="0"/>
          </a:p>
        </p:txBody>
      </p:sp>
      <p:sp>
        <p:nvSpPr>
          <p:cNvPr id="17" name="Shape 13"/>
          <p:cNvSpPr/>
          <p:nvPr/>
        </p:nvSpPr>
        <p:spPr>
          <a:xfrm>
            <a:off x="5148072" y="3136392"/>
            <a:ext cx="256032" cy="256032"/>
          </a:xfrm>
          <a:prstGeom prst="ellipse">
            <a:avLst/>
          </a:prstGeom>
          <a:solidFill>
            <a:srgbClr val="555252"/>
          </a:solidFill>
          <a:ln w="12700">
            <a:solidFill>
              <a:srgbClr val="555252"/>
            </a:solidFill>
            <a:prstDash val="solid"/>
          </a:ln>
        </p:spPr>
      </p:sp>
      <p:sp>
        <p:nvSpPr>
          <p:cNvPr id="18" name="Text 14"/>
          <p:cNvSpPr txBox="1"/>
          <p:nvPr/>
        </p:nvSpPr>
        <p:spPr>
          <a:xfrm>
            <a:off x="5477256" y="3090672"/>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【譲】ランダム缶 5種</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【求】同シリーズ 推し</a:t>
            </a:r>
            <a:endParaRPr lang="en-US" sz="800" dirty="0"/>
          </a:p>
        </p:txBody>
      </p:sp>
      <p:sp>
        <p:nvSpPr>
          <p:cNvPr id="19" name="Shape 15"/>
          <p:cNvSpPr/>
          <p:nvPr/>
        </p:nvSpPr>
        <p:spPr>
          <a:xfrm>
            <a:off x="5148072" y="3794760"/>
            <a:ext cx="256032" cy="256032"/>
          </a:xfrm>
          <a:prstGeom prst="ellipse">
            <a:avLst/>
          </a:prstGeom>
          <a:solidFill>
            <a:srgbClr val="555252"/>
          </a:solidFill>
          <a:ln w="12700">
            <a:solidFill>
              <a:srgbClr val="555252"/>
            </a:solidFill>
            <a:prstDash val="solid"/>
          </a:ln>
        </p:spPr>
      </p:sp>
      <p:sp>
        <p:nvSpPr>
          <p:cNvPr id="20" name="Text 16"/>
          <p:cNvSpPr txBox="1"/>
          <p:nvPr/>
        </p:nvSpPr>
        <p:spPr>
          <a:xfrm>
            <a:off x="5477256" y="3749040"/>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【求】アクリルスタンド</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写真1枚で、</a:t>
            </a:r>
            <a:pPr algn="ctr" indent="0" marL="0">
              <a:buNone/>
            </a:pPr>
            <a:r>
              <a:rPr lang="en-US" sz="2400" b="1" dirty="0">
                <a:solidFill>
                  <a:srgbClr val="6B7000"/>
                </a:solidFill>
                <a:latin typeface="Yu Gothic" pitchFamily="34" charset="0"/>
                <a:ea typeface="Yu Gothic" pitchFamily="34" charset="-122"/>
                <a:cs typeface="Yu Gothic" pitchFamily="34" charset="-120"/>
              </a:rPr>
              <a:t>“タグ入力”</a:t>
            </a:r>
            <a:pPr algn="ctr" indent="0" marL="0">
              <a:buNone/>
            </a:pPr>
            <a:r>
              <a:rPr lang="en-US" sz="2400" b="1" dirty="0">
                <a:solidFill>
                  <a:srgbClr val="1C1B1B"/>
                </a:solidFill>
                <a:latin typeface="Yu Gothic" pitchFamily="34" charset="0"/>
                <a:ea typeface="Yu Gothic" pitchFamily="34" charset="-122"/>
                <a:cs typeface="Yu Gothic" pitchFamily="34" charset="-120"/>
              </a:rPr>
              <a:t>そのものを覆す</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自分で書かないカード登録</a:t>
            </a:r>
            <a:endParaRPr lang="en-US" sz="1300" dirty="0"/>
          </a:p>
        </p:txBody>
      </p:sp>
      <p:sp>
        <p:nvSpPr>
          <p:cNvPr id="7" name="Text 4"/>
          <p:cNvSpPr txBox="1"/>
          <p:nvPr/>
        </p:nvSpPr>
        <p:spPr>
          <a:xfrm>
            <a:off x="50292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グッズを撮る</a:t>
            </a:r>
            <a:endParaRPr lang="en-US" sz="1200" dirty="0"/>
          </a:p>
        </p:txBody>
      </p:sp>
      <p:sp>
        <p:nvSpPr>
          <p:cNvPr id="8" name="Shape 5"/>
          <p:cNvSpPr/>
          <p:nvPr/>
        </p:nvSpPr>
        <p:spPr>
          <a:xfrm>
            <a:off x="502920" y="2240280"/>
            <a:ext cx="2377440" cy="1188720"/>
          </a:xfrm>
          <a:prstGeom prst="roundRect">
            <a:avLst>
              <a:gd name="adj" fmla="val 10769"/>
            </a:avLst>
          </a:prstGeom>
          <a:solidFill>
            <a:srgbClr val="F4F4F7"/>
          </a:solidFill>
          <a:ln w="25400">
            <a:solidFill>
              <a:srgbClr val="1C1B1B"/>
            </a:solidFill>
            <a:prstDash val="solid"/>
          </a:ln>
        </p:spPr>
      </p:sp>
      <p:sp>
        <p:nvSpPr>
          <p:cNvPr id="9" name="Shape 6"/>
          <p:cNvSpPr/>
          <p:nvPr/>
        </p:nvSpPr>
        <p:spPr>
          <a:xfrm>
            <a:off x="685800" y="2560320"/>
            <a:ext cx="548640" cy="548640"/>
          </a:xfrm>
          <a:prstGeom prst="ellipse">
            <a:avLst/>
          </a:prstGeom>
          <a:solidFill>
            <a:srgbClr val="F8FF3E"/>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806501" y="2681021"/>
            <a:ext cx="307238" cy="307238"/>
          </a:xfrm>
          <a:prstGeom prst="rect">
            <a:avLst/>
          </a:prstGeom>
        </p:spPr>
      </p:pic>
      <p:sp>
        <p:nvSpPr>
          <p:cNvPr id="11" name="Text 7"/>
          <p:cNvSpPr txBox="1"/>
          <p:nvPr/>
        </p:nvSpPr>
        <p:spPr>
          <a:xfrm>
            <a:off x="132588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写真をアップロード</a:t>
            </a:r>
            <a:endParaRPr lang="en-US" sz="1100" dirty="0"/>
          </a:p>
        </p:txBody>
      </p:sp>
      <p:pic>
        <p:nvPicPr>
          <p:cNvPr id="12" name="Image 2" descr="preencoded.png">    </p:cNvPr>
          <p:cNvPicPr>
            <a:picLocks noChangeAspect="1"/>
          </p:cNvPicPr>
          <p:nvPr/>
        </p:nvPicPr>
        <p:blipFill>
          <a:blip r:embed="rId3"/>
          <a:stretch>
            <a:fillRect/>
          </a:stretch>
        </p:blipFill>
        <p:spPr>
          <a:xfrm>
            <a:off x="2935224" y="2606040"/>
            <a:ext cx="411480" cy="411480"/>
          </a:xfrm>
          <a:prstGeom prst="rect">
            <a:avLst/>
          </a:prstGeom>
        </p:spPr>
      </p:pic>
      <p:sp>
        <p:nvSpPr>
          <p:cNvPr id="13" name="Text 8"/>
          <p:cNvSpPr txBox="1"/>
          <p:nvPr/>
        </p:nvSpPr>
        <p:spPr>
          <a:xfrm>
            <a:off x="333756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ビジョンLLM が抽出</a:t>
            </a:r>
            <a:endParaRPr lang="en-US" sz="1200" dirty="0"/>
          </a:p>
        </p:txBody>
      </p:sp>
      <p:sp>
        <p:nvSpPr>
          <p:cNvPr id="14" name="Shape 9"/>
          <p:cNvSpPr/>
          <p:nvPr/>
        </p:nvSpPr>
        <p:spPr>
          <a:xfrm>
            <a:off x="3337560" y="2240280"/>
            <a:ext cx="2377440" cy="1188720"/>
          </a:xfrm>
          <a:prstGeom prst="roundRect">
            <a:avLst>
              <a:gd name="adj" fmla="val 10769"/>
            </a:avLst>
          </a:prstGeom>
          <a:solidFill>
            <a:srgbClr val="F4F4F7"/>
          </a:solidFill>
          <a:ln w="25400">
            <a:solidFill>
              <a:srgbClr val="1C1B1B"/>
            </a:solidFill>
            <a:prstDash val="solid"/>
          </a:ln>
        </p:spPr>
      </p:sp>
      <p:sp>
        <p:nvSpPr>
          <p:cNvPr id="15" name="Shape 10"/>
          <p:cNvSpPr/>
          <p:nvPr/>
        </p:nvSpPr>
        <p:spPr>
          <a:xfrm>
            <a:off x="3520440" y="2560320"/>
            <a:ext cx="548640" cy="548640"/>
          </a:xfrm>
          <a:prstGeom prst="ellipse">
            <a:avLst/>
          </a:prstGeom>
          <a:solidFill>
            <a:srgbClr val="1C1B1B"/>
          </a:solidFill>
          <a:ln w="25400">
            <a:solidFill>
              <a:srgbClr val="1C1B1B"/>
            </a:solidFill>
            <a:prstDash val="solid"/>
          </a:ln>
        </p:spPr>
      </p:sp>
      <p:pic>
        <p:nvPicPr>
          <p:cNvPr id="16" name="Image 3" descr="preencoded.png">    </p:cNvPr>
          <p:cNvPicPr>
            <a:picLocks noChangeAspect="1"/>
          </p:cNvPicPr>
          <p:nvPr/>
        </p:nvPicPr>
        <p:blipFill>
          <a:blip r:embed="rId4"/>
          <a:stretch>
            <a:fillRect/>
          </a:stretch>
        </p:blipFill>
        <p:spPr>
          <a:xfrm>
            <a:off x="3641141" y="2681021"/>
            <a:ext cx="307238" cy="307238"/>
          </a:xfrm>
          <a:prstGeom prst="rect">
            <a:avLst/>
          </a:prstGeom>
        </p:spPr>
      </p:pic>
      <p:sp>
        <p:nvSpPr>
          <p:cNvPr id="17" name="Text 11"/>
          <p:cNvSpPr txBox="1"/>
          <p:nvPr/>
        </p:nvSpPr>
        <p:spPr>
          <a:xfrm>
            <a:off x="416052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タグ候補を</a:t>
            </a:r>
            <a:endParaRPr lang="en-US" sz="1100" dirty="0"/>
          </a:p>
          <a:p>
            <a:pPr algn="l" indent="0" marL="0">
              <a:buNone/>
            </a:pPr>
            <a:r>
              <a:rPr lang="en-US" sz="1100" b="1" dirty="0">
                <a:solidFill>
                  <a:srgbClr val="1C1B1B"/>
                </a:solidFill>
                <a:latin typeface="Yu Gothic" pitchFamily="34" charset="0"/>
                <a:ea typeface="Yu Gothic" pitchFamily="34" charset="-122"/>
                <a:cs typeface="Yu Gothic" pitchFamily="34" charset="-120"/>
              </a:rPr>
              <a:t>自動で読み取る</a:t>
            </a:r>
            <a:endParaRPr lang="en-US" sz="1100" dirty="0"/>
          </a:p>
        </p:txBody>
      </p:sp>
      <p:pic>
        <p:nvPicPr>
          <p:cNvPr id="18" name="Image 4" descr="preencoded.png">    </p:cNvPr>
          <p:cNvPicPr>
            <a:picLocks noChangeAspect="1"/>
          </p:cNvPicPr>
          <p:nvPr/>
        </p:nvPicPr>
        <p:blipFill>
          <a:blip r:embed="rId5"/>
          <a:stretch>
            <a:fillRect/>
          </a:stretch>
        </p:blipFill>
        <p:spPr>
          <a:xfrm>
            <a:off x="5769864" y="2606040"/>
            <a:ext cx="411480" cy="411480"/>
          </a:xfrm>
          <a:prstGeom prst="rect">
            <a:avLst/>
          </a:prstGeom>
        </p:spPr>
      </p:pic>
      <p:sp>
        <p:nvSpPr>
          <p:cNvPr id="19" name="Text 12"/>
          <p:cNvSpPr txBox="1"/>
          <p:nvPr/>
        </p:nvSpPr>
        <p:spPr>
          <a:xfrm>
            <a:off x="617220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確認して確定</a:t>
            </a:r>
            <a:endParaRPr lang="en-US" sz="1200" dirty="0"/>
          </a:p>
        </p:txBody>
      </p:sp>
      <p:sp>
        <p:nvSpPr>
          <p:cNvPr id="20" name="Shape 13"/>
          <p:cNvSpPr/>
          <p:nvPr/>
        </p:nvSpPr>
        <p:spPr>
          <a:xfrm>
            <a:off x="6172200" y="2240280"/>
            <a:ext cx="2377440" cy="1188720"/>
          </a:xfrm>
          <a:prstGeom prst="roundRect">
            <a:avLst>
              <a:gd name="adj" fmla="val 10769"/>
            </a:avLst>
          </a:prstGeom>
          <a:solidFill>
            <a:srgbClr val="F4F4F7"/>
          </a:solidFill>
          <a:ln w="25400">
            <a:solidFill>
              <a:srgbClr val="1C1B1B"/>
            </a:solidFill>
            <a:prstDash val="solid"/>
          </a:ln>
        </p:spPr>
      </p:sp>
      <p:sp>
        <p:nvSpPr>
          <p:cNvPr id="21" name="Shape 14"/>
          <p:cNvSpPr/>
          <p:nvPr/>
        </p:nvSpPr>
        <p:spPr>
          <a:xfrm>
            <a:off x="6355080" y="2560320"/>
            <a:ext cx="548640" cy="548640"/>
          </a:xfrm>
          <a:prstGeom prst="ellipse">
            <a:avLst/>
          </a:prstGeom>
          <a:solidFill>
            <a:srgbClr val="13F3CE"/>
          </a:solidFill>
          <a:ln w="25400">
            <a:solidFill>
              <a:srgbClr val="1C1B1B"/>
            </a:solidFill>
            <a:prstDash val="solid"/>
          </a:ln>
        </p:spPr>
      </p:sp>
      <p:pic>
        <p:nvPicPr>
          <p:cNvPr id="22" name="Image 5" descr="preencoded.png">    </p:cNvPr>
          <p:cNvPicPr>
            <a:picLocks noChangeAspect="1"/>
          </p:cNvPicPr>
          <p:nvPr/>
        </p:nvPicPr>
        <p:blipFill>
          <a:blip r:embed="rId6"/>
          <a:stretch>
            <a:fillRect/>
          </a:stretch>
        </p:blipFill>
        <p:spPr>
          <a:xfrm>
            <a:off x="6475781" y="2681021"/>
            <a:ext cx="307238" cy="307238"/>
          </a:xfrm>
          <a:prstGeom prst="rect">
            <a:avLst/>
          </a:prstGeom>
        </p:spPr>
      </p:pic>
      <p:sp>
        <p:nvSpPr>
          <p:cNvPr id="23" name="Text 15"/>
          <p:cNvSpPr txBox="1"/>
          <p:nvPr/>
        </p:nvSpPr>
        <p:spPr>
          <a:xfrm>
            <a:off x="699516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候補を編集して登録</a:t>
            </a:r>
            <a:endParaRPr lang="en-US" sz="1100" dirty="0"/>
          </a:p>
        </p:txBody>
      </p:sp>
      <p:sp>
        <p:nvSpPr>
          <p:cNvPr id="24" name="Text 16"/>
          <p:cNvSpPr txBox="1"/>
          <p:nvPr/>
        </p:nvSpPr>
        <p:spPr>
          <a:xfrm>
            <a:off x="731520" y="3840480"/>
            <a:ext cx="7680960" cy="45720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推定結果は必ず“候補”として提示。LLM の誤りがそのままカードに載らないよう、確定は人が行います。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言葉がちがっても、</a:t>
            </a:r>
            <a:pPr algn="ctr" indent="0" marL="0">
              <a:buNone/>
            </a:pPr>
            <a:r>
              <a:rPr lang="en-US" sz="2400" b="1" dirty="0">
                <a:solidFill>
                  <a:srgbClr val="6B7000"/>
                </a:solidFill>
                <a:latin typeface="Yu Gothic" pitchFamily="34" charset="0"/>
                <a:ea typeface="Yu Gothic" pitchFamily="34" charset="-122"/>
                <a:cs typeface="Yu Gothic" pitchFamily="34" charset="-120"/>
              </a:rPr>
              <a:t>同じグッズ</a:t>
            </a:r>
            <a:pPr algn="ctr" indent="0" marL="0">
              <a:buNone/>
            </a:pPr>
            <a:r>
              <a:rPr lang="en-US" sz="2400" b="1" dirty="0">
                <a:solidFill>
                  <a:srgbClr val="1C1B1B"/>
                </a:solidFill>
                <a:latin typeface="Yu Gothic" pitchFamily="34" charset="0"/>
                <a:ea typeface="Yu Gothic" pitchFamily="34" charset="-122"/>
                <a:cs typeface="Yu Gothic" pitchFamily="34" charset="-120"/>
              </a:rPr>
              <a:t>へ</a:t>
            </a:r>
            <a:endParaRPr lang="en-US" sz="2400" dirty="0"/>
          </a:p>
        </p:txBody>
      </p:sp>
      <p:sp>
        <p:nvSpPr>
          <p:cNvPr id="6" name="Shape 3"/>
          <p:cNvSpPr/>
          <p:nvPr/>
        </p:nvSpPr>
        <p:spPr>
          <a:xfrm>
            <a:off x="640080" y="1600200"/>
            <a:ext cx="3291840" cy="2651760"/>
          </a:xfrm>
          <a:prstGeom prst="roundRect">
            <a:avLst>
              <a:gd name="adj" fmla="val 4828"/>
            </a:avLst>
          </a:prstGeom>
          <a:solidFill>
            <a:srgbClr val="FFFFFF"/>
          </a:solidFill>
          <a:ln w="25400">
            <a:solidFill>
              <a:srgbClr val="1C1B1B"/>
            </a:solidFill>
            <a:prstDash val="solid"/>
          </a:ln>
        </p:spPr>
      </p:sp>
      <p:sp>
        <p:nvSpPr>
          <p:cNvPr id="7" name="Text 4"/>
          <p:cNvSpPr txBox="1"/>
          <p:nvPr/>
        </p:nvSpPr>
        <p:spPr>
          <a:xfrm>
            <a:off x="868680" y="1737360"/>
            <a:ext cx="2743200" cy="274320"/>
          </a:xfrm>
          <a:prstGeom prst="rect">
            <a:avLst/>
          </a:prstGeom>
          <a:noFill/>
          <a:ln/>
        </p:spPr>
        <p:txBody>
          <a:bodyPr wrap="square" lIns="0" tIns="0" rIns="0" bIns="0" rtlCol="0" anchor="ctr"/>
          <a:lstStyle/>
          <a:p>
            <a:pPr algn="l" indent="0" marL="0">
              <a:buNone/>
            </a:pPr>
            <a:r>
              <a:rPr lang="en-US" sz="1000" b="1" dirty="0">
                <a:solidFill>
                  <a:srgbClr val="7D7378"/>
                </a:solidFill>
                <a:latin typeface="Yu Gothic" pitchFamily="34" charset="0"/>
                <a:ea typeface="Yu Gothic" pitchFamily="34" charset="-122"/>
                <a:cs typeface="Yu Gothic" pitchFamily="34" charset="-120"/>
              </a:rPr>
              <a:t>検索ワード</a:t>
            </a:r>
            <a:endParaRPr lang="en-US" sz="1000" dirty="0"/>
          </a:p>
        </p:txBody>
      </p:sp>
      <p:sp>
        <p:nvSpPr>
          <p:cNvPr id="8" name="Shape 5"/>
          <p:cNvSpPr/>
          <p:nvPr/>
        </p:nvSpPr>
        <p:spPr>
          <a:xfrm>
            <a:off x="868680" y="2148840"/>
            <a:ext cx="914400" cy="237744"/>
          </a:xfrm>
          <a:prstGeom prst="roundRect">
            <a:avLst>
              <a:gd name="adj" fmla="val 50000"/>
            </a:avLst>
          </a:prstGeom>
          <a:solidFill>
            <a:srgbClr val="F4F4F7"/>
          </a:solidFill>
          <a:ln w="15875">
            <a:solidFill>
              <a:srgbClr val="1C1B1B"/>
            </a:solidFill>
            <a:prstDash val="solid"/>
          </a:ln>
        </p:spPr>
      </p:sp>
      <p:sp>
        <p:nvSpPr>
          <p:cNvPr id="9" name="Text 6"/>
          <p:cNvSpPr txBox="1"/>
          <p:nvPr/>
        </p:nvSpPr>
        <p:spPr>
          <a:xfrm>
            <a:off x="868680" y="214884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五条</a:t>
            </a:r>
            <a:endParaRPr lang="en-US" sz="1000" dirty="0"/>
          </a:p>
        </p:txBody>
      </p:sp>
      <p:pic>
        <p:nvPicPr>
          <p:cNvPr id="10" name="Image 1" descr="preencoded.png">    </p:cNvPr>
          <p:cNvPicPr>
            <a:picLocks noChangeAspect="1"/>
          </p:cNvPicPr>
          <p:nvPr/>
        </p:nvPicPr>
        <p:blipFill>
          <a:blip r:embed="rId2"/>
          <a:stretch>
            <a:fillRect/>
          </a:stretch>
        </p:blipFill>
        <p:spPr>
          <a:xfrm>
            <a:off x="1874520" y="2167128"/>
            <a:ext cx="201168" cy="201168"/>
          </a:xfrm>
          <a:prstGeom prst="rect">
            <a:avLst/>
          </a:prstGeom>
        </p:spPr>
      </p:pic>
      <p:sp>
        <p:nvSpPr>
          <p:cNvPr id="11" name="Shape 7"/>
          <p:cNvSpPr/>
          <p:nvPr/>
        </p:nvSpPr>
        <p:spPr>
          <a:xfrm>
            <a:off x="2148840" y="2148840"/>
            <a:ext cx="1554480" cy="237744"/>
          </a:xfrm>
          <a:prstGeom prst="roundRect">
            <a:avLst>
              <a:gd name="adj" fmla="val 50000"/>
            </a:avLst>
          </a:prstGeom>
          <a:solidFill>
            <a:srgbClr val="1C1B1B"/>
          </a:solidFill>
          <a:ln w="15875">
            <a:solidFill>
              <a:srgbClr val="1C1B1B"/>
            </a:solidFill>
            <a:prstDash val="solid"/>
          </a:ln>
        </p:spPr>
      </p:sp>
      <p:sp>
        <p:nvSpPr>
          <p:cNvPr id="12" name="Text 8"/>
          <p:cNvSpPr txBox="1"/>
          <p:nvPr/>
        </p:nvSpPr>
        <p:spPr>
          <a:xfrm>
            <a:off x="2148840" y="2148840"/>
            <a:ext cx="155448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五条悟</a:t>
            </a:r>
            <a:endParaRPr lang="en-US" sz="1000" dirty="0"/>
          </a:p>
        </p:txBody>
      </p:sp>
      <p:sp>
        <p:nvSpPr>
          <p:cNvPr id="13" name="Shape 9"/>
          <p:cNvSpPr/>
          <p:nvPr/>
        </p:nvSpPr>
        <p:spPr>
          <a:xfrm>
            <a:off x="868680" y="2788920"/>
            <a:ext cx="914400" cy="237744"/>
          </a:xfrm>
          <a:prstGeom prst="roundRect">
            <a:avLst>
              <a:gd name="adj" fmla="val 50000"/>
            </a:avLst>
          </a:prstGeom>
          <a:solidFill>
            <a:srgbClr val="F4F4F7"/>
          </a:solidFill>
          <a:ln w="15875">
            <a:solidFill>
              <a:srgbClr val="1C1B1B"/>
            </a:solidFill>
            <a:prstDash val="solid"/>
          </a:ln>
        </p:spPr>
      </p:sp>
      <p:sp>
        <p:nvSpPr>
          <p:cNvPr id="14" name="Text 10"/>
          <p:cNvSpPr txBox="1"/>
          <p:nvPr/>
        </p:nvSpPr>
        <p:spPr>
          <a:xfrm>
            <a:off x="868680" y="278892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アクスタ</a:t>
            </a:r>
            <a:endParaRPr lang="en-US" sz="1000" dirty="0"/>
          </a:p>
        </p:txBody>
      </p:sp>
      <p:pic>
        <p:nvPicPr>
          <p:cNvPr id="15" name="Image 2" descr="preencoded.png">    </p:cNvPr>
          <p:cNvPicPr>
            <a:picLocks noChangeAspect="1"/>
          </p:cNvPicPr>
          <p:nvPr/>
        </p:nvPicPr>
        <p:blipFill>
          <a:blip r:embed="rId3"/>
          <a:stretch>
            <a:fillRect/>
          </a:stretch>
        </p:blipFill>
        <p:spPr>
          <a:xfrm>
            <a:off x="1874520" y="2807208"/>
            <a:ext cx="201168" cy="201168"/>
          </a:xfrm>
          <a:prstGeom prst="rect">
            <a:avLst/>
          </a:prstGeom>
        </p:spPr>
      </p:pic>
      <p:sp>
        <p:nvSpPr>
          <p:cNvPr id="16" name="Shape 11"/>
          <p:cNvSpPr/>
          <p:nvPr/>
        </p:nvSpPr>
        <p:spPr>
          <a:xfrm>
            <a:off x="2148840" y="2788920"/>
            <a:ext cx="1554480" cy="237744"/>
          </a:xfrm>
          <a:prstGeom prst="roundRect">
            <a:avLst>
              <a:gd name="adj" fmla="val 50000"/>
            </a:avLst>
          </a:prstGeom>
          <a:solidFill>
            <a:srgbClr val="1C1B1B"/>
          </a:solidFill>
          <a:ln w="15875">
            <a:solidFill>
              <a:srgbClr val="1C1B1B"/>
            </a:solidFill>
            <a:prstDash val="solid"/>
          </a:ln>
        </p:spPr>
      </p:sp>
      <p:sp>
        <p:nvSpPr>
          <p:cNvPr id="17" name="Text 12"/>
          <p:cNvSpPr txBox="1"/>
          <p:nvPr/>
        </p:nvSpPr>
        <p:spPr>
          <a:xfrm>
            <a:off x="2148840" y="2788920"/>
            <a:ext cx="155448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アクリルスタンド</a:t>
            </a:r>
            <a:endParaRPr lang="en-US" sz="1000" dirty="0"/>
          </a:p>
        </p:txBody>
      </p:sp>
      <p:sp>
        <p:nvSpPr>
          <p:cNvPr id="18" name="Shape 13"/>
          <p:cNvSpPr/>
          <p:nvPr/>
        </p:nvSpPr>
        <p:spPr>
          <a:xfrm>
            <a:off x="868680" y="3429000"/>
            <a:ext cx="914400" cy="237744"/>
          </a:xfrm>
          <a:prstGeom prst="roundRect">
            <a:avLst>
              <a:gd name="adj" fmla="val 50000"/>
            </a:avLst>
          </a:prstGeom>
          <a:solidFill>
            <a:srgbClr val="F4F4F7"/>
          </a:solidFill>
          <a:ln w="15875">
            <a:solidFill>
              <a:srgbClr val="1C1B1B"/>
            </a:solidFill>
            <a:prstDash val="solid"/>
          </a:ln>
        </p:spPr>
      </p:sp>
      <p:sp>
        <p:nvSpPr>
          <p:cNvPr id="19" name="Text 14"/>
          <p:cNvSpPr txBox="1"/>
          <p:nvPr/>
        </p:nvSpPr>
        <p:spPr>
          <a:xfrm>
            <a:off x="868680" y="342900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ごじょう</a:t>
            </a:r>
            <a:endParaRPr lang="en-US" sz="1000" dirty="0"/>
          </a:p>
        </p:txBody>
      </p:sp>
      <p:pic>
        <p:nvPicPr>
          <p:cNvPr id="20" name="Image 3" descr="preencoded.png">    </p:cNvPr>
          <p:cNvPicPr>
            <a:picLocks noChangeAspect="1"/>
          </p:cNvPicPr>
          <p:nvPr/>
        </p:nvPicPr>
        <p:blipFill>
          <a:blip r:embed="rId4"/>
          <a:stretch>
            <a:fillRect/>
          </a:stretch>
        </p:blipFill>
        <p:spPr>
          <a:xfrm>
            <a:off x="1874520" y="3447288"/>
            <a:ext cx="201168" cy="201168"/>
          </a:xfrm>
          <a:prstGeom prst="rect">
            <a:avLst/>
          </a:prstGeom>
        </p:spPr>
      </p:pic>
      <p:sp>
        <p:nvSpPr>
          <p:cNvPr id="21" name="Shape 15"/>
          <p:cNvSpPr/>
          <p:nvPr/>
        </p:nvSpPr>
        <p:spPr>
          <a:xfrm>
            <a:off x="2148840" y="3429000"/>
            <a:ext cx="1554480" cy="237744"/>
          </a:xfrm>
          <a:prstGeom prst="roundRect">
            <a:avLst>
              <a:gd name="adj" fmla="val 50000"/>
            </a:avLst>
          </a:prstGeom>
          <a:solidFill>
            <a:srgbClr val="1C1B1B"/>
          </a:solidFill>
          <a:ln w="15875">
            <a:solidFill>
              <a:srgbClr val="1C1B1B"/>
            </a:solidFill>
            <a:prstDash val="solid"/>
          </a:ln>
        </p:spPr>
      </p:sp>
      <p:sp>
        <p:nvSpPr>
          <p:cNvPr id="22" name="Text 16"/>
          <p:cNvSpPr txBox="1"/>
          <p:nvPr/>
        </p:nvSpPr>
        <p:spPr>
          <a:xfrm>
            <a:off x="2148840" y="3429000"/>
            <a:ext cx="155448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五条悟</a:t>
            </a:r>
            <a:endParaRPr lang="en-US" sz="1000" dirty="0"/>
          </a:p>
        </p:txBody>
      </p:sp>
      <p:sp>
        <p:nvSpPr>
          <p:cNvPr id="23" name="Text 17"/>
          <p:cNvSpPr txBox="1"/>
          <p:nvPr/>
        </p:nvSpPr>
        <p:spPr>
          <a:xfrm>
            <a:off x="4069080" y="2103120"/>
            <a:ext cx="1737360" cy="914400"/>
          </a:xfrm>
          <a:prstGeom prst="rect">
            <a:avLst/>
          </a:prstGeom>
          <a:noFill/>
          <a:ln/>
        </p:spPr>
        <p:txBody>
          <a:bodyPr wrap="square" lIns="0" tIns="0" rIns="0" bIns="0" rtlCol="0" anchor="ctr"/>
          <a:lstStyle/>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タグを埋め込み</a:t>
            </a:r>
            <a:endParaRPr lang="en-US" sz="1100" dirty="0"/>
          </a:p>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表記ゆれ・同義語</a:t>
            </a:r>
            <a:endParaRPr lang="en-US" sz="1100" dirty="0"/>
          </a:p>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を名寄せ</a:t>
            </a:r>
            <a:endParaRPr lang="en-US" sz="1100" dirty="0"/>
          </a:p>
        </p:txBody>
      </p:sp>
      <p:pic>
        <p:nvPicPr>
          <p:cNvPr id="24" name="Image 4" descr="preencoded.png">    </p:cNvPr>
          <p:cNvPicPr>
            <a:picLocks noChangeAspect="1"/>
          </p:cNvPicPr>
          <p:nvPr/>
        </p:nvPicPr>
        <p:blipFill>
          <a:blip r:embed="rId5"/>
          <a:stretch>
            <a:fillRect/>
          </a:stretch>
        </p:blipFill>
        <p:spPr>
          <a:xfrm>
            <a:off x="4709160" y="3063240"/>
            <a:ext cx="457200" cy="457200"/>
          </a:xfrm>
          <a:prstGeom prst="rect">
            <a:avLst/>
          </a:prstGeom>
        </p:spPr>
      </p:pic>
      <p:sp>
        <p:nvSpPr>
          <p:cNvPr id="25" name="Shape 18"/>
          <p:cNvSpPr/>
          <p:nvPr/>
        </p:nvSpPr>
        <p:spPr>
          <a:xfrm>
            <a:off x="6172200" y="685800"/>
            <a:ext cx="2103120" cy="4206240"/>
          </a:xfrm>
          <a:prstGeom prst="roundRect">
            <a:avLst>
              <a:gd name="adj" fmla="val 13913"/>
            </a:avLst>
          </a:prstGeom>
          <a:solidFill>
            <a:srgbClr val="1C1B1B"/>
          </a:solidFill>
          <a:ln w="12700">
            <a:solidFill>
              <a:srgbClr val="1C1B1B"/>
            </a:solidFill>
            <a:prstDash val="solid"/>
          </a:ln>
        </p:spPr>
      </p:sp>
      <p:sp>
        <p:nvSpPr>
          <p:cNvPr id="26" name="Shape 19"/>
          <p:cNvSpPr/>
          <p:nvPr/>
        </p:nvSpPr>
        <p:spPr>
          <a:xfrm>
            <a:off x="6254496" y="768096"/>
            <a:ext cx="1938528" cy="4041648"/>
          </a:xfrm>
          <a:prstGeom prst="roundRect">
            <a:avLst>
              <a:gd name="adj" fmla="val 11792"/>
            </a:avLst>
          </a:prstGeom>
          <a:solidFill>
            <a:srgbClr val="FCF9F8"/>
          </a:solidFill>
          <a:ln w="12700">
            <a:solidFill>
              <a:srgbClr val="FCF9F8"/>
            </a:solidFill>
            <a:prstDash val="solid"/>
          </a:ln>
        </p:spPr>
      </p:sp>
      <p:sp>
        <p:nvSpPr>
          <p:cNvPr id="27" name="Shape 20"/>
          <p:cNvSpPr/>
          <p:nvPr/>
        </p:nvSpPr>
        <p:spPr>
          <a:xfrm>
            <a:off x="6903720" y="832104"/>
            <a:ext cx="640080" cy="128016"/>
          </a:xfrm>
          <a:prstGeom prst="roundRect">
            <a:avLst>
              <a:gd name="adj" fmla="val 50000"/>
            </a:avLst>
          </a:prstGeom>
          <a:solidFill>
            <a:srgbClr val="1C1B1B"/>
          </a:solidFill>
          <a:ln w="12700">
            <a:solidFill>
              <a:srgbClr val="1C1B1B"/>
            </a:solidFill>
            <a:prstDash val="solid"/>
          </a:ln>
        </p:spPr>
      </p:sp>
      <p:sp>
        <p:nvSpPr>
          <p:cNvPr id="28" name="Shape 21"/>
          <p:cNvSpPr/>
          <p:nvPr/>
        </p:nvSpPr>
        <p:spPr>
          <a:xfrm>
            <a:off x="6254496" y="1042416"/>
            <a:ext cx="1938528" cy="384048"/>
          </a:xfrm>
          <a:prstGeom prst="rect">
            <a:avLst/>
          </a:prstGeom>
          <a:solidFill>
            <a:srgbClr val="F8FF3E"/>
          </a:solidFill>
          <a:ln w="19050">
            <a:solidFill>
              <a:srgbClr val="1C1B1B"/>
            </a:solidFill>
            <a:prstDash val="solid"/>
          </a:ln>
        </p:spPr>
      </p:sp>
      <p:sp>
        <p:nvSpPr>
          <p:cNvPr id="29" name="Text 22"/>
          <p:cNvSpPr txBox="1"/>
          <p:nvPr/>
        </p:nvSpPr>
        <p:spPr>
          <a:xfrm>
            <a:off x="639165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30" name="Shape 23"/>
          <p:cNvSpPr/>
          <p:nvPr/>
        </p:nvSpPr>
        <p:spPr>
          <a:xfrm>
            <a:off x="6382512" y="1545336"/>
            <a:ext cx="1682496" cy="310896"/>
          </a:xfrm>
          <a:prstGeom prst="roundRect">
            <a:avLst>
              <a:gd name="adj" fmla="val 50000"/>
            </a:avLst>
          </a:prstGeom>
          <a:solidFill>
            <a:srgbClr val="FFFFFF"/>
          </a:solidFill>
          <a:ln w="19050">
            <a:solidFill>
              <a:srgbClr val="1C1B1B"/>
            </a:solidFill>
            <a:prstDash val="solid"/>
          </a:ln>
        </p:spPr>
      </p:sp>
      <p:sp>
        <p:nvSpPr>
          <p:cNvPr id="31" name="Text 24"/>
          <p:cNvSpPr txBox="1"/>
          <p:nvPr/>
        </p:nvSpPr>
        <p:spPr>
          <a:xfrm>
            <a:off x="6519672" y="1545336"/>
            <a:ext cx="1408176" cy="310896"/>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五条 アクスタ</a:t>
            </a:r>
            <a:endParaRPr lang="en-US" sz="900" dirty="0"/>
          </a:p>
        </p:txBody>
      </p:sp>
      <p:sp>
        <p:nvSpPr>
          <p:cNvPr id="32" name="Text 25"/>
          <p:cNvSpPr txBox="1"/>
          <p:nvPr/>
        </p:nvSpPr>
        <p:spPr>
          <a:xfrm>
            <a:off x="6382512" y="1956816"/>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検索結果</a:t>
            </a:r>
            <a:endParaRPr lang="en-US" sz="800" dirty="0"/>
          </a:p>
        </p:txBody>
      </p:sp>
      <p:sp>
        <p:nvSpPr>
          <p:cNvPr id="33" name="Shape 26"/>
          <p:cNvSpPr/>
          <p:nvPr/>
        </p:nvSpPr>
        <p:spPr>
          <a:xfrm>
            <a:off x="6382512" y="2231136"/>
            <a:ext cx="1682496" cy="731520"/>
          </a:xfrm>
          <a:prstGeom prst="roundRect">
            <a:avLst>
              <a:gd name="adj" fmla="val 17500"/>
            </a:avLst>
          </a:prstGeom>
          <a:solidFill>
            <a:srgbClr val="D7FDF6"/>
          </a:solidFill>
          <a:ln w="19050">
            <a:solidFill>
              <a:srgbClr val="1C1B1B"/>
            </a:solidFill>
            <a:prstDash val="solid"/>
          </a:ln>
        </p:spPr>
      </p:sp>
      <p:sp>
        <p:nvSpPr>
          <p:cNvPr id="34" name="Text 27"/>
          <p:cNvSpPr txBox="1"/>
          <p:nvPr/>
        </p:nvSpPr>
        <p:spPr>
          <a:xfrm>
            <a:off x="6473952" y="228600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35" name="Shape 28"/>
          <p:cNvSpPr/>
          <p:nvPr/>
        </p:nvSpPr>
        <p:spPr>
          <a:xfrm>
            <a:off x="6473952" y="2615184"/>
            <a:ext cx="388620" cy="237744"/>
          </a:xfrm>
          <a:prstGeom prst="roundRect">
            <a:avLst>
              <a:gd name="adj" fmla="val 50000"/>
            </a:avLst>
          </a:prstGeom>
          <a:solidFill>
            <a:srgbClr val="1C1B1B"/>
          </a:solidFill>
          <a:ln w="15875">
            <a:solidFill>
              <a:srgbClr val="1C1B1B"/>
            </a:solidFill>
            <a:prstDash val="solid"/>
          </a:ln>
        </p:spPr>
      </p:sp>
      <p:sp>
        <p:nvSpPr>
          <p:cNvPr id="36" name="Text 29"/>
          <p:cNvSpPr txBox="1"/>
          <p:nvPr/>
        </p:nvSpPr>
        <p:spPr>
          <a:xfrm>
            <a:off x="6473952" y="2615184"/>
            <a:ext cx="388620"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五条悟</a:t>
            </a:r>
            <a:endParaRPr lang="en-US" sz="700" dirty="0"/>
          </a:p>
        </p:txBody>
      </p:sp>
      <p:sp>
        <p:nvSpPr>
          <p:cNvPr id="37" name="Shape 30"/>
          <p:cNvSpPr/>
          <p:nvPr/>
        </p:nvSpPr>
        <p:spPr>
          <a:xfrm>
            <a:off x="6908292" y="2615184"/>
            <a:ext cx="822960" cy="237744"/>
          </a:xfrm>
          <a:prstGeom prst="roundRect">
            <a:avLst>
              <a:gd name="adj" fmla="val 50000"/>
            </a:avLst>
          </a:prstGeom>
          <a:solidFill>
            <a:srgbClr val="1C1B1B"/>
          </a:solidFill>
          <a:ln w="15875">
            <a:solidFill>
              <a:srgbClr val="1C1B1B"/>
            </a:solidFill>
            <a:prstDash val="solid"/>
          </a:ln>
        </p:spPr>
      </p:sp>
      <p:sp>
        <p:nvSpPr>
          <p:cNvPr id="38" name="Text 31"/>
          <p:cNvSpPr txBox="1"/>
          <p:nvPr/>
        </p:nvSpPr>
        <p:spPr>
          <a:xfrm>
            <a:off x="6908292" y="2615184"/>
            <a:ext cx="822960"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アクリルスタンド</a:t>
            </a:r>
            <a:endParaRPr lang="en-US" sz="700" dirty="0"/>
          </a:p>
        </p:txBody>
      </p:sp>
      <p:sp>
        <p:nvSpPr>
          <p:cNvPr id="39" name="Shape 32"/>
          <p:cNvSpPr/>
          <p:nvPr/>
        </p:nvSpPr>
        <p:spPr>
          <a:xfrm>
            <a:off x="6382512" y="3099816"/>
            <a:ext cx="1682496" cy="731520"/>
          </a:xfrm>
          <a:prstGeom prst="roundRect">
            <a:avLst>
              <a:gd name="adj" fmla="val 17500"/>
            </a:avLst>
          </a:prstGeom>
          <a:solidFill>
            <a:srgbClr val="D7FDF6"/>
          </a:solidFill>
          <a:ln w="19050">
            <a:solidFill>
              <a:srgbClr val="1C1B1B"/>
            </a:solidFill>
            <a:prstDash val="solid"/>
          </a:ln>
        </p:spPr>
      </p:sp>
      <p:sp>
        <p:nvSpPr>
          <p:cNvPr id="40" name="Text 33"/>
          <p:cNvSpPr txBox="1"/>
          <p:nvPr/>
        </p:nvSpPr>
        <p:spPr>
          <a:xfrm>
            <a:off x="6473952" y="315468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41" name="Shape 34"/>
          <p:cNvSpPr/>
          <p:nvPr/>
        </p:nvSpPr>
        <p:spPr>
          <a:xfrm>
            <a:off x="6473952" y="3483864"/>
            <a:ext cx="388620" cy="237744"/>
          </a:xfrm>
          <a:prstGeom prst="roundRect">
            <a:avLst>
              <a:gd name="adj" fmla="val 50000"/>
            </a:avLst>
          </a:prstGeom>
          <a:solidFill>
            <a:srgbClr val="1C1B1B"/>
          </a:solidFill>
          <a:ln w="15875">
            <a:solidFill>
              <a:srgbClr val="1C1B1B"/>
            </a:solidFill>
            <a:prstDash val="solid"/>
          </a:ln>
        </p:spPr>
      </p:sp>
      <p:sp>
        <p:nvSpPr>
          <p:cNvPr id="42" name="Text 35"/>
          <p:cNvSpPr txBox="1"/>
          <p:nvPr/>
        </p:nvSpPr>
        <p:spPr>
          <a:xfrm>
            <a:off x="6473952" y="3483864"/>
            <a:ext cx="388620"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五条悟</a:t>
            </a:r>
            <a:endParaRPr lang="en-US" sz="700" dirty="0"/>
          </a:p>
        </p:txBody>
      </p:sp>
      <p:sp>
        <p:nvSpPr>
          <p:cNvPr id="43" name="Shape 36"/>
          <p:cNvSpPr/>
          <p:nvPr/>
        </p:nvSpPr>
        <p:spPr>
          <a:xfrm>
            <a:off x="6908292" y="3483864"/>
            <a:ext cx="475488" cy="237744"/>
          </a:xfrm>
          <a:prstGeom prst="roundRect">
            <a:avLst>
              <a:gd name="adj" fmla="val 50000"/>
            </a:avLst>
          </a:prstGeom>
          <a:solidFill>
            <a:srgbClr val="1C1B1B"/>
          </a:solidFill>
          <a:ln w="15875">
            <a:solidFill>
              <a:srgbClr val="1C1B1B"/>
            </a:solidFill>
            <a:prstDash val="solid"/>
          </a:ln>
        </p:spPr>
      </p:sp>
      <p:sp>
        <p:nvSpPr>
          <p:cNvPr id="44" name="Text 37"/>
          <p:cNvSpPr txBox="1"/>
          <p:nvPr/>
        </p:nvSpPr>
        <p:spPr>
          <a:xfrm>
            <a:off x="6908292" y="3483864"/>
            <a:ext cx="475488" cy="237744"/>
          </a:xfrm>
          <a:prstGeom prst="rect">
            <a:avLst/>
          </a:prstGeom>
          <a:noFill/>
          <a:ln/>
        </p:spPr>
        <p:txBody>
          <a:bodyPr wrap="square" lIns="0" tIns="0" rIns="0" bIns="0" rtlCol="0" anchor="ctr"/>
          <a:lstStyle/>
          <a:p>
            <a:pPr algn="ctr" indent="0" marL="0">
              <a:buNone/>
            </a:pPr>
            <a:r>
              <a:rPr lang="en-US" sz="700" b="1" dirty="0">
                <a:solidFill>
                  <a:srgbClr val="FFFFFF"/>
                </a:solidFill>
                <a:latin typeface="Yu Gothic" pitchFamily="34" charset="0"/>
                <a:ea typeface="Yu Gothic" pitchFamily="34" charset="-122"/>
                <a:cs typeface="Yu Gothic" pitchFamily="34" charset="-120"/>
              </a:rPr>
              <a:t>アクスタ</a:t>
            </a:r>
            <a:endParaRPr lang="en-US" sz="700" dirty="0"/>
          </a:p>
        </p:txBody>
      </p:sp>
      <p:sp>
        <p:nvSpPr>
          <p:cNvPr id="45" name="Text 38"/>
          <p:cNvSpPr txBox="1"/>
          <p:nvPr/>
        </p:nvSpPr>
        <p:spPr>
          <a:xfrm>
            <a:off x="6382512" y="4014216"/>
            <a:ext cx="1682496" cy="274320"/>
          </a:xfrm>
          <a:prstGeom prst="rect">
            <a:avLst/>
          </a:prstGeom>
          <a:noFill/>
          <a:ln/>
        </p:spPr>
        <p:txBody>
          <a:bodyPr wrap="square" lIns="0" tIns="0" rIns="0" bIns="0" rtlCol="0" anchor="ctr"/>
          <a:lstStyle/>
          <a:p>
            <a:pPr algn="ctr" indent="0" marL="0">
              <a:buNone/>
            </a:pPr>
            <a:r>
              <a:rPr lang="en-US" sz="700" b="1" dirty="0">
                <a:solidFill>
                  <a:srgbClr val="7D7378"/>
                </a:solidFill>
                <a:latin typeface="Yu Gothic" pitchFamily="34" charset="0"/>
                <a:ea typeface="Yu Gothic" pitchFamily="34" charset="-122"/>
                <a:cs typeface="Yu Gothic" pitchFamily="34" charset="-120"/>
              </a:rPr>
              <a:t>表記がちがっても同じグッズとして表示</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プロダクトのポジション</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交換の輪</a:t>
            </a:r>
            <a:pPr algn="ctr" indent="0" marL="0">
              <a:buNone/>
            </a:pPr>
            <a:r>
              <a:rPr lang="en-US" sz="2400" b="1" dirty="0">
                <a:solidFill>
                  <a:srgbClr val="1C1B1B"/>
                </a:solidFill>
                <a:latin typeface="Yu Gothic" pitchFamily="34" charset="0"/>
                <a:ea typeface="Yu Gothic" pitchFamily="34" charset="-122"/>
                <a:cs typeface="Yu Gothic" pitchFamily="34" charset="-120"/>
              </a:rPr>
              <a:t>と</a:t>
            </a:r>
            <a:pPr algn="ctr" indent="0" marL="0">
              <a:buNone/>
            </a:pPr>
            <a:r>
              <a:rPr lang="en-US" sz="2400" b="1" dirty="0">
                <a:solidFill>
                  <a:srgbClr val="6B7000"/>
                </a:solidFill>
                <a:latin typeface="Yu Gothic" pitchFamily="34" charset="0"/>
                <a:ea typeface="Yu Gothic" pitchFamily="34" charset="-122"/>
                <a:cs typeface="Yu Gothic" pitchFamily="34" charset="-120"/>
              </a:rPr>
              <a:t>距離の最適化</a:t>
            </a:r>
            <a:pPr algn="ctr" indent="0" marL="0">
              <a:buNone/>
            </a:pPr>
            <a:r>
              <a:rPr lang="en-US" sz="2400" b="1" dirty="0">
                <a:solidFill>
                  <a:srgbClr val="1C1B1B"/>
                </a:solidFill>
                <a:latin typeface="Yu Gothic" pitchFamily="34" charset="0"/>
                <a:ea typeface="Yu Gothic" pitchFamily="34" charset="-122"/>
                <a:cs typeface="Yu Gothic" pitchFamily="34" charset="-120"/>
              </a:rPr>
              <a:t>を武器に</a:t>
            </a:r>
            <a:endParaRPr lang="en-US" sz="2400" dirty="0"/>
          </a:p>
        </p:txBody>
      </p:sp>
      <p:sp>
        <p:nvSpPr>
          <p:cNvPr id="6" name="Shape 3"/>
          <p:cNvSpPr/>
          <p:nvPr/>
        </p:nvSpPr>
        <p:spPr>
          <a:xfrm>
            <a:off x="1188720" y="3063240"/>
            <a:ext cx="6766560" cy="0"/>
          </a:xfrm>
          <a:prstGeom prst="line">
            <a:avLst/>
          </a:prstGeom>
          <a:noFill/>
          <a:ln w="19050">
            <a:solidFill>
              <a:srgbClr val="1C1B1B"/>
            </a:solidFill>
            <a:prstDash val="dash"/>
            <a:headEnd type="triangle"/>
            <a:tailEnd type="triangle"/>
          </a:ln>
        </p:spPr>
      </p:sp>
      <p:sp>
        <p:nvSpPr>
          <p:cNvPr id="7" name="Shape 4"/>
          <p:cNvSpPr/>
          <p:nvPr/>
        </p:nvSpPr>
        <p:spPr>
          <a:xfrm>
            <a:off x="4572000" y="1417320"/>
            <a:ext cx="0" cy="3337560"/>
          </a:xfrm>
          <a:prstGeom prst="line">
            <a:avLst/>
          </a:prstGeom>
          <a:noFill/>
          <a:ln w="19050">
            <a:solidFill>
              <a:srgbClr val="1C1B1B"/>
            </a:solidFill>
            <a:prstDash val="dash"/>
            <a:headEnd type="triangle"/>
            <a:tailEnd type="triangle"/>
          </a:ln>
        </p:spPr>
      </p:sp>
      <p:sp>
        <p:nvSpPr>
          <p:cNvPr id="8" name="Text 5"/>
          <p:cNvSpPr txBox="1"/>
          <p:nvPr/>
        </p:nvSpPr>
        <p:spPr>
          <a:xfrm>
            <a:off x="3657600" y="1188720"/>
            <a:ext cx="1828800" cy="22860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手軽さ（高）</a:t>
            </a:r>
            <a:endParaRPr lang="en-US" sz="1100" dirty="0"/>
          </a:p>
        </p:txBody>
      </p:sp>
      <p:sp>
        <p:nvSpPr>
          <p:cNvPr id="9" name="Text 6"/>
          <p:cNvSpPr txBox="1"/>
          <p:nvPr/>
        </p:nvSpPr>
        <p:spPr>
          <a:xfrm>
            <a:off x="3657600" y="4754880"/>
            <a:ext cx="1828800" cy="22860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手軽さ（低）</a:t>
            </a:r>
            <a:endParaRPr lang="en-US" sz="1100" dirty="0"/>
          </a:p>
        </p:txBody>
      </p:sp>
      <p:sp>
        <p:nvSpPr>
          <p:cNvPr id="10" name="Text 7"/>
          <p:cNvSpPr txBox="1"/>
          <p:nvPr/>
        </p:nvSpPr>
        <p:spPr>
          <a:xfrm>
            <a:off x="320040" y="2926080"/>
            <a:ext cx="822960" cy="274320"/>
          </a:xfrm>
          <a:prstGeom prst="rect">
            <a:avLst/>
          </a:prstGeom>
          <a:noFill/>
          <a:ln/>
        </p:spPr>
        <p:txBody>
          <a:bodyPr wrap="square" lIns="0" tIns="0" rIns="0" bIns="0" rtlCol="0" anchor="ctr"/>
          <a:lstStyle/>
          <a:p>
            <a:pPr algn="r" indent="0" marL="0">
              <a:buNone/>
            </a:pPr>
            <a:r>
              <a:rPr lang="en-US" sz="1100" b="1" dirty="0">
                <a:solidFill>
                  <a:srgbClr val="1C1B1B"/>
                </a:solidFill>
                <a:latin typeface="Yu Gothic" pitchFamily="34" charset="0"/>
                <a:ea typeface="Yu Gothic" pitchFamily="34" charset="-122"/>
                <a:cs typeface="Yu Gothic" pitchFamily="34" charset="-120"/>
              </a:rPr>
              <a:t>汎用型</a:t>
            </a:r>
            <a:endParaRPr lang="en-US" sz="1100" dirty="0"/>
          </a:p>
        </p:txBody>
      </p:sp>
      <p:sp>
        <p:nvSpPr>
          <p:cNvPr id="11" name="Text 8"/>
          <p:cNvSpPr txBox="1"/>
          <p:nvPr/>
        </p:nvSpPr>
        <p:spPr>
          <a:xfrm>
            <a:off x="8001000" y="2926080"/>
            <a:ext cx="1005840" cy="2743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推し活特化型</a:t>
            </a:r>
            <a:endParaRPr lang="en-US" sz="1100" dirty="0"/>
          </a:p>
        </p:txBody>
      </p:sp>
      <p:sp>
        <p:nvSpPr>
          <p:cNvPr id="12" name="Shape 9"/>
          <p:cNvSpPr/>
          <p:nvPr/>
        </p:nvSpPr>
        <p:spPr>
          <a:xfrm>
            <a:off x="2011680" y="1783080"/>
            <a:ext cx="1463040" cy="420624"/>
          </a:xfrm>
          <a:prstGeom prst="roundRect">
            <a:avLst>
              <a:gd name="adj" fmla="val 50000"/>
            </a:avLst>
          </a:prstGeom>
          <a:solidFill>
            <a:srgbClr val="F4F4F7"/>
          </a:solidFill>
          <a:ln w="19050">
            <a:solidFill>
              <a:srgbClr val="1C1B1B"/>
            </a:solidFill>
            <a:prstDash val="solid"/>
          </a:ln>
        </p:spPr>
      </p:sp>
      <p:sp>
        <p:nvSpPr>
          <p:cNvPr id="13" name="Text 10"/>
          <p:cNvSpPr txBox="1"/>
          <p:nvPr/>
        </p:nvSpPr>
        <p:spPr>
          <a:xfrm>
            <a:off x="2011680" y="178308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フリマアプリ</a:t>
            </a:r>
            <a:endParaRPr lang="en-US" sz="1000" dirty="0"/>
          </a:p>
        </p:txBody>
      </p:sp>
      <p:sp>
        <p:nvSpPr>
          <p:cNvPr id="14" name="Shape 11"/>
          <p:cNvSpPr/>
          <p:nvPr/>
        </p:nvSpPr>
        <p:spPr>
          <a:xfrm>
            <a:off x="2377440" y="3840480"/>
            <a:ext cx="1463040" cy="420624"/>
          </a:xfrm>
          <a:prstGeom prst="roundRect">
            <a:avLst>
              <a:gd name="adj" fmla="val 50000"/>
            </a:avLst>
          </a:prstGeom>
          <a:solidFill>
            <a:srgbClr val="F4F4F7"/>
          </a:solidFill>
          <a:ln w="19050">
            <a:solidFill>
              <a:srgbClr val="1C1B1B"/>
            </a:solidFill>
            <a:prstDash val="solid"/>
          </a:ln>
        </p:spPr>
      </p:sp>
      <p:sp>
        <p:nvSpPr>
          <p:cNvPr id="15" name="Text 12"/>
          <p:cNvSpPr txBox="1"/>
          <p:nvPr/>
        </p:nvSpPr>
        <p:spPr>
          <a:xfrm>
            <a:off x="2377440" y="384048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SNS の譲渡投稿</a:t>
            </a:r>
            <a:endParaRPr lang="en-US" sz="1000" dirty="0"/>
          </a:p>
        </p:txBody>
      </p:sp>
      <p:sp>
        <p:nvSpPr>
          <p:cNvPr id="16" name="Shape 13"/>
          <p:cNvSpPr/>
          <p:nvPr/>
        </p:nvSpPr>
        <p:spPr>
          <a:xfrm>
            <a:off x="5486400" y="3931920"/>
            <a:ext cx="1463040" cy="420624"/>
          </a:xfrm>
          <a:prstGeom prst="roundRect">
            <a:avLst>
              <a:gd name="adj" fmla="val 50000"/>
            </a:avLst>
          </a:prstGeom>
          <a:solidFill>
            <a:srgbClr val="F4F4F7"/>
          </a:solidFill>
          <a:ln w="19050">
            <a:solidFill>
              <a:srgbClr val="1C1B1B"/>
            </a:solidFill>
            <a:prstDash val="solid"/>
          </a:ln>
        </p:spPr>
      </p:sp>
      <p:sp>
        <p:nvSpPr>
          <p:cNvPr id="17" name="Text 14"/>
          <p:cNvSpPr txBox="1"/>
          <p:nvPr/>
        </p:nvSpPr>
        <p:spPr>
          <a:xfrm>
            <a:off x="5486400" y="393192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交換掲示板</a:t>
            </a:r>
            <a:endParaRPr lang="en-US" sz="1000" dirty="0"/>
          </a:p>
        </p:txBody>
      </p:sp>
      <p:sp>
        <p:nvSpPr>
          <p:cNvPr id="18" name="Shape 15"/>
          <p:cNvSpPr/>
          <p:nvPr/>
        </p:nvSpPr>
        <p:spPr>
          <a:xfrm>
            <a:off x="6035040" y="1600200"/>
            <a:ext cx="1554480" cy="868680"/>
          </a:xfrm>
          <a:prstGeom prst="roundRect">
            <a:avLst>
              <a:gd name="adj" fmla="val 14737"/>
            </a:avLst>
          </a:prstGeom>
          <a:solidFill>
            <a:srgbClr val="FFFFFF"/>
          </a:solidFill>
          <a:ln w="28575">
            <a:solidFill>
              <a:srgbClr val="1C1B1B"/>
            </a:solidFill>
            <a:prstDash val="dash"/>
          </a:ln>
        </p:spPr>
      </p:sp>
      <p:pic>
        <p:nvPicPr>
          <p:cNvPr id="19" name="Image 1" descr="C:/Users/user/otaku-match/frontend/public/logo.png">    </p:cNvPr>
          <p:cNvPicPr>
            <a:picLocks noChangeAspect="1"/>
          </p:cNvPicPr>
          <p:nvPr/>
        </p:nvPicPr>
        <p:blipFill>
          <a:blip r:embed="rId2"/>
          <a:srcRect l="0" r="0" t="0" b="0"/>
          <a:stretch/>
        </p:blipFill>
        <p:spPr>
          <a:xfrm>
            <a:off x="6172200" y="1783080"/>
            <a:ext cx="502920" cy="502920"/>
          </a:xfrm>
          <a:prstGeom prst="rect">
            <a:avLst/>
          </a:prstGeom>
        </p:spPr>
      </p:pic>
      <p:sp>
        <p:nvSpPr>
          <p:cNvPr id="20" name="Text 16"/>
          <p:cNvSpPr txBox="1"/>
          <p:nvPr/>
        </p:nvSpPr>
        <p:spPr>
          <a:xfrm>
            <a:off x="6720840" y="1600200"/>
            <a:ext cx="822960" cy="868680"/>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MeetU</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目指したい世界</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Shape 2"/>
          <p:cNvSpPr/>
          <p:nvPr/>
        </p:nvSpPr>
        <p:spPr>
          <a:xfrm>
            <a:off x="640080" y="914400"/>
            <a:ext cx="2377440" cy="457200"/>
          </a:xfrm>
          <a:prstGeom prst="roundRect">
            <a:avLst>
              <a:gd name="adj" fmla="val 16000"/>
            </a:avLst>
          </a:prstGeom>
          <a:solidFill>
            <a:srgbClr val="F8FF3E"/>
          </a:solidFill>
          <a:ln w="25400">
            <a:solidFill>
              <a:srgbClr val="1C1B1B"/>
            </a:solidFill>
            <a:prstDash val="solid"/>
          </a:ln>
        </p:spPr>
      </p:sp>
      <p:sp>
        <p:nvSpPr>
          <p:cNvPr id="6" name="Text 3"/>
          <p:cNvSpPr txBox="1"/>
          <p:nvPr/>
        </p:nvSpPr>
        <p:spPr>
          <a:xfrm>
            <a:off x="640080" y="914400"/>
            <a:ext cx="2377440" cy="457200"/>
          </a:xfrm>
          <a:prstGeom prst="rect">
            <a:avLst/>
          </a:prstGeom>
          <a:noFill/>
          <a:ln/>
        </p:spPr>
        <p:txBody>
          <a:bodyPr wrap="square" lIns="0" tIns="0" rIns="0" bIns="0" rtlCol="0" anchor="ctr"/>
          <a:lstStyle/>
          <a:p>
            <a:pPr algn="ctr" indent="0" marL="0">
              <a:buNone/>
            </a:pPr>
            <a:r>
              <a:rPr lang="en-US" sz="1500" b="1" dirty="0">
                <a:solidFill>
                  <a:srgbClr val="1C1B1B"/>
                </a:solidFill>
                <a:latin typeface="Yu Gothic" pitchFamily="34" charset="0"/>
                <a:ea typeface="Yu Gothic" pitchFamily="34" charset="-122"/>
                <a:cs typeface="Yu Gothic" pitchFamily="34" charset="-120"/>
              </a:rPr>
              <a:t>Service Value</a:t>
            </a:r>
            <a:endParaRPr lang="en-US" sz="1500" dirty="0"/>
          </a:p>
        </p:txBody>
      </p:sp>
      <p:sp>
        <p:nvSpPr>
          <p:cNvPr id="7" name="Text 4"/>
          <p:cNvSpPr txBox="1"/>
          <p:nvPr/>
        </p:nvSpPr>
        <p:spPr>
          <a:xfrm>
            <a:off x="731520" y="1920240"/>
            <a:ext cx="7680960" cy="1828800"/>
          </a:xfrm>
          <a:prstGeom prst="rect">
            <a:avLst/>
          </a:prstGeom>
          <a:noFill/>
          <a:ln/>
        </p:spPr>
        <p:txBody>
          <a:bodyPr wrap="square" lIns="0" tIns="0" rIns="0" bIns="0" rtlCol="0" anchor="ctr"/>
          <a:lstStyle/>
          <a:p>
            <a:pPr algn="ctr" indent="0" marL="0">
              <a:buNone/>
            </a:pPr>
            <a:r>
              <a:rPr lang="en-US" sz="3000" b="1" dirty="0">
                <a:solidFill>
                  <a:srgbClr val="1C1B1B"/>
                </a:solidFill>
                <a:latin typeface="Yu Gothic" pitchFamily="34" charset="0"/>
                <a:ea typeface="Yu Gothic" pitchFamily="34" charset="-122"/>
                <a:cs typeface="Yu Gothic" pitchFamily="34" charset="-120"/>
              </a:rPr>
              <a:t>“噛み合わない”で終わらず、</a:t>
            </a:r>
            <a:endParaRPr lang="en-US" sz="3000" dirty="0"/>
          </a:p>
          <a:p>
            <a:pPr algn="ctr" indent="0" marL="0">
              <a:buNone/>
            </a:pPr>
            <a:r>
              <a:rPr lang="en-US" sz="3000" b="1" dirty="0">
                <a:solidFill>
                  <a:srgbClr val="1C1B1B"/>
                </a:solidFill>
                <a:latin typeface="Yu Gothic" pitchFamily="34" charset="0"/>
                <a:ea typeface="Yu Gothic" pitchFamily="34" charset="-122"/>
                <a:cs typeface="Yu Gothic" pitchFamily="34" charset="-120"/>
              </a:rPr>
              <a:t>推しのグッズが</a:t>
            </a:r>
            <a:pPr algn="ctr" indent="0" marL="0">
              <a:buNone/>
            </a:pPr>
            <a:r>
              <a:rPr lang="en-US" sz="3000" b="1" dirty="0">
                <a:solidFill>
                  <a:srgbClr val="6B7000"/>
                </a:solidFill>
                <a:latin typeface="Yu Gothic" pitchFamily="34" charset="0"/>
                <a:ea typeface="Yu Gothic" pitchFamily="34" charset="-122"/>
                <a:cs typeface="Yu Gothic" pitchFamily="34" charset="-120"/>
              </a:rPr>
              <a:t>次の人へ届く</a:t>
            </a:r>
            <a:pPr algn="ctr" indent="0" marL="0">
              <a:buNone/>
            </a:pPr>
            <a:r>
              <a:rPr lang="en-US" sz="3000" b="1" dirty="0">
                <a:solidFill>
                  <a:srgbClr val="1C1B1B"/>
                </a:solidFill>
                <a:latin typeface="Yu Gothic" pitchFamily="34" charset="0"/>
                <a:ea typeface="Yu Gothic" pitchFamily="34" charset="-122"/>
                <a:cs typeface="Yu Gothic" pitchFamily="34" charset="-120"/>
              </a:rPr>
              <a:t>世界</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マッチングへの挑戦</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NP完全</a:t>
            </a:r>
            <a:pPr algn="ctr" indent="0" marL="0">
              <a:buNone/>
            </a:pPr>
            <a:r>
              <a:rPr lang="en-US" sz="2400" b="1" dirty="0">
                <a:solidFill>
                  <a:srgbClr val="1C1B1B"/>
                </a:solidFill>
                <a:latin typeface="Yu Gothic" pitchFamily="34" charset="0"/>
                <a:ea typeface="Yu Gothic" pitchFamily="34" charset="-122"/>
                <a:cs typeface="Yu Gothic" pitchFamily="34" charset="-120"/>
              </a:rPr>
              <a:t>な“交換の輪”への挑戦</a:t>
            </a:r>
            <a:endParaRPr lang="en-US" sz="2400" dirty="0"/>
          </a:p>
        </p:txBody>
      </p:sp>
      <p:sp>
        <p:nvSpPr>
          <p:cNvPr id="6" name="Shape 3"/>
          <p:cNvSpPr/>
          <p:nvPr/>
        </p:nvSpPr>
        <p:spPr>
          <a:xfrm>
            <a:off x="3063240" y="1325880"/>
            <a:ext cx="566928" cy="566928"/>
          </a:xfrm>
          <a:prstGeom prst="ellipse">
            <a:avLst/>
          </a:prstGeom>
          <a:solidFill>
            <a:srgbClr val="F8FF3E"/>
          </a:solidFill>
          <a:ln w="25400">
            <a:solidFill>
              <a:srgbClr val="1C1B1B"/>
            </a:solidFill>
            <a:prstDash val="solid"/>
          </a:ln>
        </p:spPr>
      </p:sp>
      <p:pic>
        <p:nvPicPr>
          <p:cNvPr id="7" name="Image 1" descr="preencoded.png">    </p:cNvPr>
          <p:cNvPicPr>
            <a:picLocks noChangeAspect="1"/>
          </p:cNvPicPr>
          <p:nvPr/>
        </p:nvPicPr>
        <p:blipFill>
          <a:blip r:embed="rId2"/>
          <a:stretch>
            <a:fillRect/>
          </a:stretch>
        </p:blipFill>
        <p:spPr>
          <a:xfrm>
            <a:off x="3187964" y="1450604"/>
            <a:ext cx="317480" cy="317480"/>
          </a:xfrm>
          <a:prstGeom prst="rect">
            <a:avLst/>
          </a:prstGeom>
        </p:spPr>
      </p:pic>
      <p:sp>
        <p:nvSpPr>
          <p:cNvPr id="8" name="Text 4"/>
          <p:cNvSpPr txBox="1"/>
          <p:nvPr/>
        </p:nvSpPr>
        <p:spPr>
          <a:xfrm>
            <a:off x="3749040" y="1325880"/>
            <a:ext cx="2743200" cy="566928"/>
          </a:xfrm>
          <a:prstGeom prst="rect">
            <a:avLst/>
          </a:prstGeom>
          <a:noFill/>
          <a:ln/>
        </p:spPr>
        <p:txBody>
          <a:bodyPr wrap="square" lIns="0" tIns="0" rIns="0" bIns="0" rtlCol="0" anchor="ctr"/>
          <a:lstStyle/>
          <a:p>
            <a:pPr algn="l" indent="0" marL="0">
              <a:buNone/>
            </a:pPr>
            <a:r>
              <a:rPr lang="en-US" sz="2600" b="1" dirty="0">
                <a:solidFill>
                  <a:srgbClr val="1C1B1B"/>
                </a:solidFill>
                <a:latin typeface="Yu Gothic" pitchFamily="34" charset="0"/>
                <a:ea typeface="Yu Gothic" pitchFamily="34" charset="-122"/>
                <a:cs typeface="Yu Gothic" pitchFamily="34" charset="-120"/>
              </a:rPr>
              <a:t>CycleFinder</a:t>
            </a:r>
            <a:endParaRPr lang="en-US" sz="2600" dirty="0"/>
          </a:p>
        </p:txBody>
      </p:sp>
      <p:sp>
        <p:nvSpPr>
          <p:cNvPr id="9" name="Shape 5"/>
          <p:cNvSpPr/>
          <p:nvPr/>
        </p:nvSpPr>
        <p:spPr>
          <a:xfrm>
            <a:off x="502920" y="2194560"/>
            <a:ext cx="2514600" cy="384048"/>
          </a:xfrm>
          <a:prstGeom prst="roundRect">
            <a:avLst>
              <a:gd name="adj" fmla="val 50000"/>
            </a:avLst>
          </a:prstGeom>
          <a:solidFill>
            <a:srgbClr val="F4F4F7"/>
          </a:solidFill>
          <a:ln w="22225">
            <a:solidFill>
              <a:srgbClr val="1C1B1B"/>
            </a:solidFill>
            <a:prstDash val="solid"/>
          </a:ln>
        </p:spPr>
      </p:sp>
      <p:sp>
        <p:nvSpPr>
          <p:cNvPr id="10" name="Text 6"/>
          <p:cNvSpPr txBox="1"/>
          <p:nvPr/>
        </p:nvSpPr>
        <p:spPr>
          <a:xfrm>
            <a:off x="502920"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閉路探索</a:t>
            </a:r>
            <a:endParaRPr lang="en-US" sz="1200" dirty="0"/>
          </a:p>
        </p:txBody>
      </p:sp>
      <p:sp>
        <p:nvSpPr>
          <p:cNvPr id="11" name="Text 7"/>
          <p:cNvSpPr txBox="1"/>
          <p:nvPr/>
        </p:nvSpPr>
        <p:spPr>
          <a:xfrm>
            <a:off x="502920" y="2697480"/>
            <a:ext cx="2514600" cy="320040"/>
          </a:xfrm>
          <a:prstGeom prst="rect">
            <a:avLst/>
          </a:prstGeom>
          <a:noFill/>
          <a:ln/>
        </p:spPr>
        <p:txBody>
          <a:bodyPr wrap="square" lIns="0" tIns="0" rIns="0" bIns="0" rtlCol="0" anchor="ctr"/>
          <a:lstStyle/>
          <a:p>
            <a:pPr algn="ctr" indent="0" marL="0">
              <a:buNone/>
            </a:pPr>
            <a:r>
              <a:rPr lang="en-US" sz="1200" b="1" dirty="0">
                <a:solidFill>
                  <a:srgbClr val="6B7000"/>
                </a:solidFill>
                <a:latin typeface="Yu Gothic" pitchFamily="34" charset="0"/>
                <a:ea typeface="Yu Gothic" pitchFamily="34" charset="-122"/>
                <a:cs typeface="Yu Gothic" pitchFamily="34" charset="-120"/>
              </a:rPr>
              <a:t>有向グラフの閉路として解く</a:t>
            </a:r>
            <a:endParaRPr lang="en-US" sz="1200" dirty="0"/>
          </a:p>
        </p:txBody>
      </p:sp>
      <p:sp>
        <p:nvSpPr>
          <p:cNvPr id="12" name="Text 8"/>
          <p:cNvSpPr txBox="1"/>
          <p:nvPr/>
        </p:nvSpPr>
        <p:spPr>
          <a:xfrm>
            <a:off x="502920"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人＝頂点、「渡せる関係」＝辺。</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3〜4人の輪を探索</a:t>
            </a:r>
            <a:endParaRPr lang="en-US" sz="1100" dirty="0"/>
          </a:p>
        </p:txBody>
      </p:sp>
      <p:sp>
        <p:nvSpPr>
          <p:cNvPr id="13" name="Shape 9"/>
          <p:cNvSpPr/>
          <p:nvPr/>
        </p:nvSpPr>
        <p:spPr>
          <a:xfrm>
            <a:off x="1463040" y="3794760"/>
            <a:ext cx="594360" cy="594360"/>
          </a:xfrm>
          <a:prstGeom prst="ellipse">
            <a:avLst/>
          </a:prstGeom>
          <a:solidFill>
            <a:srgbClr val="F8FF3E"/>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1593799" y="3925519"/>
            <a:ext cx="332842" cy="332842"/>
          </a:xfrm>
          <a:prstGeom prst="rect">
            <a:avLst/>
          </a:prstGeom>
        </p:spPr>
      </p:pic>
      <p:sp>
        <p:nvSpPr>
          <p:cNvPr id="15" name="Shape 10"/>
          <p:cNvSpPr/>
          <p:nvPr/>
        </p:nvSpPr>
        <p:spPr>
          <a:xfrm>
            <a:off x="3319272" y="2194560"/>
            <a:ext cx="2514600" cy="384048"/>
          </a:xfrm>
          <a:prstGeom prst="roundRect">
            <a:avLst>
              <a:gd name="adj" fmla="val 50000"/>
            </a:avLst>
          </a:prstGeom>
          <a:solidFill>
            <a:srgbClr val="F4F4F7"/>
          </a:solidFill>
          <a:ln w="22225">
            <a:solidFill>
              <a:srgbClr val="1C1B1B"/>
            </a:solidFill>
            <a:prstDash val="solid"/>
          </a:ln>
        </p:spPr>
      </p:sp>
      <p:sp>
        <p:nvSpPr>
          <p:cNvPr id="16" name="Text 11"/>
          <p:cNvSpPr txBox="1"/>
          <p:nvPr/>
        </p:nvSpPr>
        <p:spPr>
          <a:xfrm>
            <a:off x="3319272"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距離の最適化</a:t>
            </a:r>
            <a:endParaRPr lang="en-US" sz="1200" dirty="0"/>
          </a:p>
        </p:txBody>
      </p:sp>
      <p:sp>
        <p:nvSpPr>
          <p:cNvPr id="17" name="Text 12"/>
          <p:cNvSpPr txBox="1"/>
          <p:nvPr/>
        </p:nvSpPr>
        <p:spPr>
          <a:xfrm>
            <a:off x="3319272" y="2697480"/>
            <a:ext cx="2514600" cy="320040"/>
          </a:xfrm>
          <a:prstGeom prst="rect">
            <a:avLst/>
          </a:prstGeom>
          <a:noFill/>
          <a:ln/>
        </p:spPr>
        <p:txBody>
          <a:bodyPr wrap="square" lIns="0" tIns="0" rIns="0" bIns="0" rtlCol="0" anchor="ctr"/>
          <a:lstStyle/>
          <a:p>
            <a:pPr algn="ctr" indent="0" marL="0">
              <a:buNone/>
            </a:pPr>
            <a:r>
              <a:rPr lang="en-US" sz="1200" b="1" dirty="0">
                <a:solidFill>
                  <a:srgbClr val="6B7000"/>
                </a:solidFill>
                <a:latin typeface="Yu Gothic" pitchFamily="34" charset="0"/>
                <a:ea typeface="Yu Gothic" pitchFamily="34" charset="-122"/>
                <a:cs typeface="Yu Gothic" pitchFamily="34" charset="-120"/>
              </a:rPr>
              <a:t>合計移動距離が最小の輪</a:t>
            </a:r>
            <a:endParaRPr lang="en-US" sz="1200" dirty="0"/>
          </a:p>
        </p:txBody>
      </p:sp>
      <p:sp>
        <p:nvSpPr>
          <p:cNvPr id="18" name="Text 13"/>
          <p:cNvSpPr txBox="1"/>
          <p:nvPr/>
        </p:nvSpPr>
        <p:spPr>
          <a:xfrm>
            <a:off x="3319272"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枝は拠点が近い順にたどり、</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候補は合計距離の小さい順</a:t>
            </a:r>
            <a:endParaRPr lang="en-US" sz="1100" dirty="0"/>
          </a:p>
        </p:txBody>
      </p:sp>
      <p:sp>
        <p:nvSpPr>
          <p:cNvPr id="19" name="Shape 14"/>
          <p:cNvSpPr/>
          <p:nvPr/>
        </p:nvSpPr>
        <p:spPr>
          <a:xfrm>
            <a:off x="4279392" y="3794760"/>
            <a:ext cx="594360" cy="594360"/>
          </a:xfrm>
          <a:prstGeom prst="ellipse">
            <a:avLst/>
          </a:prstGeom>
          <a:solidFill>
            <a:srgbClr val="13F3CE"/>
          </a:solidFill>
          <a:ln w="25400">
            <a:solidFill>
              <a:srgbClr val="1C1B1B"/>
            </a:solidFill>
            <a:prstDash val="solid"/>
          </a:ln>
        </p:spPr>
      </p:sp>
      <p:pic>
        <p:nvPicPr>
          <p:cNvPr id="20" name="Image 3" descr="preencoded.png">    </p:cNvPr>
          <p:cNvPicPr>
            <a:picLocks noChangeAspect="1"/>
          </p:cNvPicPr>
          <p:nvPr/>
        </p:nvPicPr>
        <p:blipFill>
          <a:blip r:embed="rId4"/>
          <a:stretch>
            <a:fillRect/>
          </a:stretch>
        </p:blipFill>
        <p:spPr>
          <a:xfrm>
            <a:off x="4410151" y="3925519"/>
            <a:ext cx="332842" cy="332842"/>
          </a:xfrm>
          <a:prstGeom prst="rect">
            <a:avLst/>
          </a:prstGeom>
        </p:spPr>
      </p:pic>
      <p:sp>
        <p:nvSpPr>
          <p:cNvPr id="21" name="Shape 15"/>
          <p:cNvSpPr/>
          <p:nvPr/>
        </p:nvSpPr>
        <p:spPr>
          <a:xfrm>
            <a:off x="6135624" y="2194560"/>
            <a:ext cx="2514600" cy="384048"/>
          </a:xfrm>
          <a:prstGeom prst="roundRect">
            <a:avLst>
              <a:gd name="adj" fmla="val 50000"/>
            </a:avLst>
          </a:prstGeom>
          <a:solidFill>
            <a:srgbClr val="F4F4F7"/>
          </a:solidFill>
          <a:ln w="22225">
            <a:solidFill>
              <a:srgbClr val="1C1B1B"/>
            </a:solidFill>
            <a:prstDash val="solid"/>
          </a:ln>
        </p:spPr>
      </p:sp>
      <p:sp>
        <p:nvSpPr>
          <p:cNvPr id="22" name="Text 16"/>
          <p:cNvSpPr txBox="1"/>
          <p:nvPr/>
        </p:nvSpPr>
        <p:spPr>
          <a:xfrm>
            <a:off x="6135624"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排他的な採用</a:t>
            </a:r>
            <a:endParaRPr lang="en-US" sz="1200" dirty="0"/>
          </a:p>
        </p:txBody>
      </p:sp>
      <p:sp>
        <p:nvSpPr>
          <p:cNvPr id="23" name="Text 17"/>
          <p:cNvSpPr txBox="1"/>
          <p:nvPr/>
        </p:nvSpPr>
        <p:spPr>
          <a:xfrm>
            <a:off x="6135624" y="2697480"/>
            <a:ext cx="2514600" cy="320040"/>
          </a:xfrm>
          <a:prstGeom prst="rect">
            <a:avLst/>
          </a:prstGeom>
          <a:noFill/>
          <a:ln/>
        </p:spPr>
        <p:txBody>
          <a:bodyPr wrap="square" lIns="0" tIns="0" rIns="0" bIns="0" rtlCol="0" anchor="ctr"/>
          <a:lstStyle/>
          <a:p>
            <a:pPr algn="ctr" indent="0" marL="0">
              <a:buNone/>
            </a:pPr>
            <a:r>
              <a:rPr lang="en-US" sz="1200" b="1" dirty="0">
                <a:solidFill>
                  <a:srgbClr val="6B7000"/>
                </a:solidFill>
                <a:latin typeface="Yu Gothic" pitchFamily="34" charset="0"/>
                <a:ea typeface="Yu Gothic" pitchFamily="34" charset="-122"/>
                <a:cs typeface="Yu Gothic" pitchFamily="34" charset="-120"/>
              </a:rPr>
              <a:t>同じカードを二重に出さない</a:t>
            </a:r>
            <a:endParaRPr lang="en-US" sz="1200" dirty="0"/>
          </a:p>
        </p:txBody>
      </p:sp>
      <p:sp>
        <p:nvSpPr>
          <p:cNvPr id="24" name="Text 18"/>
          <p:cNvSpPr txBox="1"/>
          <p:nvPr/>
        </p:nvSpPr>
        <p:spPr>
          <a:xfrm>
            <a:off x="6135624"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採用済みカードを含む輪は</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スキップして“すれ違い”を防ぐ</a:t>
            </a:r>
            <a:endParaRPr lang="en-US" sz="1100" dirty="0"/>
          </a:p>
        </p:txBody>
      </p:sp>
      <p:sp>
        <p:nvSpPr>
          <p:cNvPr id="25" name="Shape 19"/>
          <p:cNvSpPr/>
          <p:nvPr/>
        </p:nvSpPr>
        <p:spPr>
          <a:xfrm>
            <a:off x="7095744" y="3794760"/>
            <a:ext cx="594360" cy="594360"/>
          </a:xfrm>
          <a:prstGeom prst="ellipse">
            <a:avLst/>
          </a:prstGeom>
          <a:solidFill>
            <a:srgbClr val="1C1B1B"/>
          </a:solidFill>
          <a:ln w="25400">
            <a:solidFill>
              <a:srgbClr val="1C1B1B"/>
            </a:solidFill>
            <a:prstDash val="solid"/>
          </a:ln>
        </p:spPr>
      </p:sp>
      <p:pic>
        <p:nvPicPr>
          <p:cNvPr id="26" name="Image 4" descr="preencoded.png">    </p:cNvPr>
          <p:cNvPicPr>
            <a:picLocks noChangeAspect="1"/>
          </p:cNvPicPr>
          <p:nvPr/>
        </p:nvPicPr>
        <p:blipFill>
          <a:blip r:embed="rId5"/>
          <a:stretch>
            <a:fillRect/>
          </a:stretch>
        </p:blipFill>
        <p:spPr>
          <a:xfrm>
            <a:off x="7226503" y="3925519"/>
            <a:ext cx="332842" cy="33284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マッチングへの挑戦</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手軽に、</a:t>
            </a:r>
            <a:pPr algn="ctr" indent="0" marL="0">
              <a:buNone/>
            </a:pPr>
            <a:r>
              <a:rPr lang="en-US" sz="2400" b="1" dirty="0">
                <a:solidFill>
                  <a:srgbClr val="6B7000"/>
                </a:solidFill>
                <a:latin typeface="Yu Gothic" pitchFamily="34" charset="0"/>
                <a:ea typeface="Yu Gothic" pitchFamily="34" charset="-122"/>
                <a:cs typeface="Yu Gothic" pitchFamily="34" charset="-120"/>
              </a:rPr>
              <a:t>近くで。</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6B7000"/>
                </a:solidFill>
                <a:latin typeface="Yu Gothic" pitchFamily="34" charset="0"/>
                <a:ea typeface="Yu Gothic" pitchFamily="34" charset="-122"/>
                <a:cs typeface="Yu Gothic" pitchFamily="34" charset="-120"/>
              </a:rPr>
              <a:t>全探索に頼らず、ユーザーの手間と移動を最小に</a:t>
            </a:r>
            <a:endParaRPr lang="en-US" sz="1300" dirty="0"/>
          </a:p>
        </p:txBody>
      </p:sp>
      <p:sp>
        <p:nvSpPr>
          <p:cNvPr id="7" name="Shape 4"/>
          <p:cNvSpPr/>
          <p:nvPr/>
        </p:nvSpPr>
        <p:spPr>
          <a:xfrm>
            <a:off x="640080" y="1783080"/>
            <a:ext cx="2651760" cy="384048"/>
          </a:xfrm>
          <a:prstGeom prst="roundRect">
            <a:avLst>
              <a:gd name="adj" fmla="val 50000"/>
            </a:avLst>
          </a:prstGeom>
          <a:solidFill>
            <a:srgbClr val="F4F4F7"/>
          </a:solidFill>
          <a:ln w="22225">
            <a:solidFill>
              <a:srgbClr val="1C1B1B"/>
            </a:solidFill>
            <a:prstDash val="solid"/>
          </a:ln>
        </p:spPr>
      </p:sp>
      <p:sp>
        <p:nvSpPr>
          <p:cNvPr id="8" name="Text 5"/>
          <p:cNvSpPr txBox="1"/>
          <p:nvPr/>
        </p:nvSpPr>
        <p:spPr>
          <a:xfrm>
            <a:off x="640080" y="1783080"/>
            <a:ext cx="26517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写真から、手軽に</a:t>
            </a:r>
            <a:endParaRPr lang="en-US" sz="1200" dirty="0"/>
          </a:p>
        </p:txBody>
      </p:sp>
      <p:sp>
        <p:nvSpPr>
          <p:cNvPr id="9" name="Text 6"/>
          <p:cNvSpPr txBox="1"/>
          <p:nvPr/>
        </p:nvSpPr>
        <p:spPr>
          <a:xfrm>
            <a:off x="640080" y="2286000"/>
            <a:ext cx="265176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タグ入力を自分でしない</a:t>
            </a:r>
            <a:endParaRPr lang="en-US" sz="1200" dirty="0"/>
          </a:p>
        </p:txBody>
      </p:sp>
      <p:sp>
        <p:nvSpPr>
          <p:cNvPr id="10" name="Text 7"/>
          <p:cNvSpPr txBox="1"/>
          <p:nvPr/>
        </p:nvSpPr>
        <p:spPr>
          <a:xfrm>
            <a:off x="640080" y="2743200"/>
            <a:ext cx="2651760" cy="1280160"/>
          </a:xfrm>
          <a:prstGeom prst="rect">
            <a:avLst/>
          </a:prstGeom>
          <a:noFill/>
          <a:ln/>
        </p:spPr>
        <p:txBody>
          <a:bodyPr wrap="square" lIns="0" tIns="0" rIns="0" bIns="0" rtlCol="0" anchor="ctr"/>
          <a:lstStyle/>
          <a:p>
            <a:pPr algn="ctr" indent="0" marL="0">
              <a:buNone/>
            </a:pPr>
            <a:r>
              <a:rPr lang="en-US" sz="6600" b="1" dirty="0">
                <a:solidFill>
                  <a:srgbClr val="6B7000"/>
                </a:solidFill>
                <a:latin typeface="Yu Gothic" pitchFamily="34" charset="0"/>
                <a:ea typeface="Yu Gothic" pitchFamily="34" charset="-122"/>
                <a:cs typeface="Yu Gothic" pitchFamily="34" charset="-120"/>
              </a:rPr>
              <a:t>1</a:t>
            </a:r>
            <a:pPr algn="ctr" indent="0" marL="0">
              <a:buNone/>
            </a:pPr>
            <a:r>
              <a:rPr lang="en-US" sz="1600" b="1" dirty="0">
                <a:solidFill>
                  <a:srgbClr val="1C1B1B"/>
                </a:solidFill>
                <a:latin typeface="Yu Gothic" pitchFamily="34" charset="0"/>
                <a:ea typeface="Yu Gothic" pitchFamily="34" charset="-122"/>
                <a:cs typeface="Yu Gothic" pitchFamily="34" charset="-120"/>
              </a:rPr>
              <a:t> 枚の写真で</a:t>
            </a:r>
            <a:endParaRPr lang="en-US" sz="6600" dirty="0"/>
          </a:p>
        </p:txBody>
      </p:sp>
      <p:sp>
        <p:nvSpPr>
          <p:cNvPr id="11" name="Shape 8"/>
          <p:cNvSpPr/>
          <p:nvPr/>
        </p:nvSpPr>
        <p:spPr>
          <a:xfrm>
            <a:off x="3657600" y="1783080"/>
            <a:ext cx="2651760" cy="384048"/>
          </a:xfrm>
          <a:prstGeom prst="roundRect">
            <a:avLst>
              <a:gd name="adj" fmla="val 50000"/>
            </a:avLst>
          </a:prstGeom>
          <a:solidFill>
            <a:srgbClr val="F4F4F7"/>
          </a:solidFill>
          <a:ln w="22225">
            <a:solidFill>
              <a:srgbClr val="1C1B1B"/>
            </a:solidFill>
            <a:prstDash val="solid"/>
          </a:ln>
        </p:spPr>
      </p:sp>
      <p:sp>
        <p:nvSpPr>
          <p:cNvPr id="12" name="Text 9"/>
          <p:cNvSpPr txBox="1"/>
          <p:nvPr/>
        </p:nvSpPr>
        <p:spPr>
          <a:xfrm>
            <a:off x="3657600" y="1783080"/>
            <a:ext cx="26517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輪で、近くに</a:t>
            </a:r>
            <a:endParaRPr lang="en-US" sz="1200" dirty="0"/>
          </a:p>
        </p:txBody>
      </p:sp>
      <p:sp>
        <p:nvSpPr>
          <p:cNvPr id="13" name="Text 10"/>
          <p:cNvSpPr txBox="1"/>
          <p:nvPr/>
        </p:nvSpPr>
        <p:spPr>
          <a:xfrm>
            <a:off x="3657600" y="2286000"/>
            <a:ext cx="265176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1対1を超えて成立させる</a:t>
            </a:r>
            <a:endParaRPr lang="en-US" sz="1200" dirty="0"/>
          </a:p>
        </p:txBody>
      </p:sp>
      <p:sp>
        <p:nvSpPr>
          <p:cNvPr id="14" name="Text 11"/>
          <p:cNvSpPr txBox="1"/>
          <p:nvPr/>
        </p:nvSpPr>
        <p:spPr>
          <a:xfrm>
            <a:off x="3657600" y="2743200"/>
            <a:ext cx="2651760" cy="1280160"/>
          </a:xfrm>
          <a:prstGeom prst="rect">
            <a:avLst/>
          </a:prstGeom>
          <a:noFill/>
          <a:ln/>
        </p:spPr>
        <p:txBody>
          <a:bodyPr wrap="square" lIns="0" tIns="0" rIns="0" bIns="0" rtlCol="0" anchor="ctr"/>
          <a:lstStyle/>
          <a:p>
            <a:pPr algn="ctr" indent="0" marL="0">
              <a:buNone/>
            </a:pPr>
            <a:r>
              <a:rPr lang="en-US" sz="6600" b="1" dirty="0">
                <a:solidFill>
                  <a:srgbClr val="00705E"/>
                </a:solidFill>
                <a:latin typeface="Yu Gothic" pitchFamily="34" charset="0"/>
                <a:ea typeface="Yu Gothic" pitchFamily="34" charset="-122"/>
                <a:cs typeface="Yu Gothic" pitchFamily="34" charset="-120"/>
              </a:rPr>
              <a:t>4</a:t>
            </a:r>
            <a:pPr algn="ctr" indent="0" marL="0">
              <a:buNone/>
            </a:pPr>
            <a:r>
              <a:rPr lang="en-US" sz="1600" b="1" dirty="0">
                <a:solidFill>
                  <a:srgbClr val="1C1B1B"/>
                </a:solidFill>
                <a:latin typeface="Yu Gothic" pitchFamily="34" charset="0"/>
                <a:ea typeface="Yu Gothic" pitchFamily="34" charset="-122"/>
                <a:cs typeface="Yu Gothic" pitchFamily="34" charset="-120"/>
              </a:rPr>
              <a:t> 人までの輪</a:t>
            </a:r>
            <a:endParaRPr lang="en-US" sz="6600" dirty="0"/>
          </a:p>
        </p:txBody>
      </p:sp>
      <p:sp>
        <p:nvSpPr>
          <p:cNvPr id="15" name="Shape 12"/>
          <p:cNvSpPr/>
          <p:nvPr/>
        </p:nvSpPr>
        <p:spPr>
          <a:xfrm>
            <a:off x="6629400" y="914400"/>
            <a:ext cx="1920240" cy="3977640"/>
          </a:xfrm>
          <a:prstGeom prst="roundRect">
            <a:avLst>
              <a:gd name="adj" fmla="val 15238"/>
            </a:avLst>
          </a:prstGeom>
          <a:solidFill>
            <a:srgbClr val="1C1B1B"/>
          </a:solidFill>
          <a:ln w="12700">
            <a:solidFill>
              <a:srgbClr val="1C1B1B"/>
            </a:solidFill>
            <a:prstDash val="solid"/>
          </a:ln>
        </p:spPr>
      </p:sp>
      <p:sp>
        <p:nvSpPr>
          <p:cNvPr id="16" name="Shape 13"/>
          <p:cNvSpPr/>
          <p:nvPr/>
        </p:nvSpPr>
        <p:spPr>
          <a:xfrm>
            <a:off x="6711696" y="996696"/>
            <a:ext cx="1755648" cy="3813048"/>
          </a:xfrm>
          <a:prstGeom prst="roundRect">
            <a:avLst>
              <a:gd name="adj" fmla="val 13021"/>
            </a:avLst>
          </a:prstGeom>
          <a:solidFill>
            <a:srgbClr val="FCF9F8"/>
          </a:solidFill>
          <a:ln w="12700">
            <a:solidFill>
              <a:srgbClr val="FCF9F8"/>
            </a:solidFill>
            <a:prstDash val="solid"/>
          </a:ln>
        </p:spPr>
      </p:sp>
      <p:sp>
        <p:nvSpPr>
          <p:cNvPr id="17" name="Shape 14"/>
          <p:cNvSpPr/>
          <p:nvPr/>
        </p:nvSpPr>
        <p:spPr>
          <a:xfrm>
            <a:off x="7269480" y="1060704"/>
            <a:ext cx="640080" cy="128016"/>
          </a:xfrm>
          <a:prstGeom prst="roundRect">
            <a:avLst>
              <a:gd name="adj" fmla="val 50000"/>
            </a:avLst>
          </a:prstGeom>
          <a:solidFill>
            <a:srgbClr val="1C1B1B"/>
          </a:solidFill>
          <a:ln w="12700">
            <a:solidFill>
              <a:srgbClr val="1C1B1B"/>
            </a:solidFill>
            <a:prstDash val="solid"/>
          </a:ln>
        </p:spPr>
      </p:sp>
      <p:sp>
        <p:nvSpPr>
          <p:cNvPr id="18" name="Shape 15"/>
          <p:cNvSpPr/>
          <p:nvPr/>
        </p:nvSpPr>
        <p:spPr>
          <a:xfrm>
            <a:off x="6711696" y="1271016"/>
            <a:ext cx="1755648" cy="384048"/>
          </a:xfrm>
          <a:prstGeom prst="rect">
            <a:avLst/>
          </a:prstGeom>
          <a:solidFill>
            <a:srgbClr val="F8FF3E"/>
          </a:solidFill>
          <a:ln w="19050">
            <a:solidFill>
              <a:srgbClr val="1C1B1B"/>
            </a:solidFill>
            <a:prstDash val="solid"/>
          </a:ln>
        </p:spPr>
      </p:sp>
      <p:sp>
        <p:nvSpPr>
          <p:cNvPr id="19" name="Text 16"/>
          <p:cNvSpPr txBox="1"/>
          <p:nvPr/>
        </p:nvSpPr>
        <p:spPr>
          <a:xfrm>
            <a:off x="6848856" y="1271016"/>
            <a:ext cx="148132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0" name="Text 17"/>
          <p:cNvSpPr txBox="1"/>
          <p:nvPr/>
        </p:nvSpPr>
        <p:spPr>
          <a:xfrm>
            <a:off x="6839712" y="1773936"/>
            <a:ext cx="149961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お取引カードを登録</a:t>
            </a:r>
            <a:endParaRPr lang="en-US" sz="900" dirty="0"/>
          </a:p>
        </p:txBody>
      </p:sp>
      <p:sp>
        <p:nvSpPr>
          <p:cNvPr id="21" name="Shape 18"/>
          <p:cNvSpPr/>
          <p:nvPr/>
        </p:nvSpPr>
        <p:spPr>
          <a:xfrm>
            <a:off x="6839712" y="2048256"/>
            <a:ext cx="1499616" cy="960120"/>
          </a:xfrm>
          <a:prstGeom prst="roundRect">
            <a:avLst>
              <a:gd name="adj" fmla="val 9524"/>
            </a:avLst>
          </a:prstGeom>
          <a:solidFill>
            <a:srgbClr val="F4F4F7"/>
          </a:solidFill>
          <a:ln w="15875">
            <a:solidFill>
              <a:srgbClr val="1C1B1B"/>
            </a:solidFill>
            <a:prstDash val="dash"/>
          </a:ln>
        </p:spPr>
      </p:sp>
      <p:sp>
        <p:nvSpPr>
          <p:cNvPr id="22" name="Text 19"/>
          <p:cNvSpPr txBox="1"/>
          <p:nvPr/>
        </p:nvSpPr>
        <p:spPr>
          <a:xfrm>
            <a:off x="6839712" y="2048256"/>
            <a:ext cx="1499616" cy="960120"/>
          </a:xfrm>
          <a:prstGeom prst="rect">
            <a:avLst/>
          </a:prstGeom>
          <a:noFill/>
          <a:ln/>
        </p:spPr>
        <p:txBody>
          <a:bodyPr wrap="square" lIns="0" tIns="0" rIns="0" bIns="0" rtlCol="0" anchor="ctr"/>
          <a:lstStyle/>
          <a:p>
            <a:pPr algn="ctr" indent="0" marL="0">
              <a:buNone/>
            </a:pPr>
            <a:r>
              <a:rPr lang="en-US" sz="900" b="1" dirty="0">
                <a:solidFill>
                  <a:srgbClr val="7D7378"/>
                </a:solidFill>
                <a:latin typeface="Yu Gothic" pitchFamily="34" charset="0"/>
                <a:ea typeface="Yu Gothic" pitchFamily="34" charset="-122"/>
                <a:cs typeface="Yu Gothic" pitchFamily="34" charset="-120"/>
              </a:rPr>
              <a:t>アクスタの写真</a:t>
            </a:r>
            <a:endParaRPr lang="en-US" sz="900" dirty="0"/>
          </a:p>
        </p:txBody>
      </p:sp>
      <p:sp>
        <p:nvSpPr>
          <p:cNvPr id="23" name="Shape 20"/>
          <p:cNvSpPr/>
          <p:nvPr/>
        </p:nvSpPr>
        <p:spPr>
          <a:xfrm>
            <a:off x="6839712" y="3118104"/>
            <a:ext cx="1499616" cy="237744"/>
          </a:xfrm>
          <a:prstGeom prst="roundRect">
            <a:avLst>
              <a:gd name="adj" fmla="val 50000"/>
            </a:avLst>
          </a:prstGeom>
          <a:solidFill>
            <a:srgbClr val="ECEAE4"/>
          </a:solidFill>
          <a:ln w="15875">
            <a:solidFill>
              <a:srgbClr val="1C1B1B"/>
            </a:solidFill>
            <a:prstDash val="solid"/>
          </a:ln>
        </p:spPr>
      </p:sp>
      <p:sp>
        <p:nvSpPr>
          <p:cNvPr id="24" name="Text 21"/>
          <p:cNvSpPr txBox="1"/>
          <p:nvPr/>
        </p:nvSpPr>
        <p:spPr>
          <a:xfrm>
            <a:off x="6839712" y="3118104"/>
            <a:ext cx="1499616"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AI が写真を読み取り中…</a:t>
            </a:r>
            <a:endParaRPr lang="en-US" sz="800" dirty="0"/>
          </a:p>
        </p:txBody>
      </p:sp>
      <p:sp>
        <p:nvSpPr>
          <p:cNvPr id="25" name="Text 22"/>
          <p:cNvSpPr txBox="1"/>
          <p:nvPr/>
        </p:nvSpPr>
        <p:spPr>
          <a:xfrm>
            <a:off x="6839712" y="3465576"/>
            <a:ext cx="149961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タグ候補</a:t>
            </a:r>
            <a:endParaRPr lang="en-US" sz="800" dirty="0"/>
          </a:p>
        </p:txBody>
      </p:sp>
      <p:sp>
        <p:nvSpPr>
          <p:cNvPr id="26" name="Shape 23"/>
          <p:cNvSpPr/>
          <p:nvPr/>
        </p:nvSpPr>
        <p:spPr>
          <a:xfrm>
            <a:off x="6839712" y="3694176"/>
            <a:ext cx="658368" cy="237744"/>
          </a:xfrm>
          <a:prstGeom prst="roundRect">
            <a:avLst>
              <a:gd name="adj" fmla="val 50000"/>
            </a:avLst>
          </a:prstGeom>
          <a:solidFill>
            <a:srgbClr val="FDFFD1"/>
          </a:solidFill>
          <a:ln w="15875">
            <a:solidFill>
              <a:srgbClr val="1C1B1B"/>
            </a:solidFill>
            <a:prstDash val="solid"/>
          </a:ln>
        </p:spPr>
      </p:sp>
      <p:sp>
        <p:nvSpPr>
          <p:cNvPr id="27" name="Text 24"/>
          <p:cNvSpPr txBox="1"/>
          <p:nvPr/>
        </p:nvSpPr>
        <p:spPr>
          <a:xfrm>
            <a:off x="6839712" y="3694176"/>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プロセカ</a:t>
            </a:r>
            <a:endParaRPr lang="en-US" sz="800" dirty="0"/>
          </a:p>
        </p:txBody>
      </p:sp>
      <p:sp>
        <p:nvSpPr>
          <p:cNvPr id="28" name="Shape 25"/>
          <p:cNvSpPr/>
          <p:nvPr/>
        </p:nvSpPr>
        <p:spPr>
          <a:xfrm>
            <a:off x="7571232" y="3694176"/>
            <a:ext cx="566928" cy="237744"/>
          </a:xfrm>
          <a:prstGeom prst="roundRect">
            <a:avLst>
              <a:gd name="adj" fmla="val 50000"/>
            </a:avLst>
          </a:prstGeom>
          <a:solidFill>
            <a:srgbClr val="FDFFD1"/>
          </a:solidFill>
          <a:ln w="15875">
            <a:solidFill>
              <a:srgbClr val="1C1B1B"/>
            </a:solidFill>
            <a:prstDash val="solid"/>
          </a:ln>
        </p:spPr>
      </p:sp>
      <p:sp>
        <p:nvSpPr>
          <p:cNvPr id="29" name="Text 26"/>
          <p:cNvSpPr txBox="1"/>
          <p:nvPr/>
        </p:nvSpPr>
        <p:spPr>
          <a:xfrm>
            <a:off x="7571232" y="3694176"/>
            <a:ext cx="56692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天馬司</a:t>
            </a:r>
            <a:endParaRPr lang="en-US" sz="800" dirty="0"/>
          </a:p>
        </p:txBody>
      </p:sp>
      <p:sp>
        <p:nvSpPr>
          <p:cNvPr id="30" name="Shape 27"/>
          <p:cNvSpPr/>
          <p:nvPr/>
        </p:nvSpPr>
        <p:spPr>
          <a:xfrm>
            <a:off x="6839712" y="3986784"/>
            <a:ext cx="658368" cy="237744"/>
          </a:xfrm>
          <a:prstGeom prst="roundRect">
            <a:avLst>
              <a:gd name="adj" fmla="val 50000"/>
            </a:avLst>
          </a:prstGeom>
          <a:solidFill>
            <a:srgbClr val="FDFFD1"/>
          </a:solidFill>
          <a:ln w="15875">
            <a:solidFill>
              <a:srgbClr val="1C1B1B"/>
            </a:solidFill>
            <a:prstDash val="solid"/>
          </a:ln>
        </p:spPr>
      </p:sp>
      <p:sp>
        <p:nvSpPr>
          <p:cNvPr id="31" name="Text 28"/>
          <p:cNvSpPr txBox="1"/>
          <p:nvPr/>
        </p:nvSpPr>
        <p:spPr>
          <a:xfrm>
            <a:off x="6839712" y="3986784"/>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アクスタ</a:t>
            </a:r>
            <a:endParaRPr lang="en-US" sz="800" dirty="0"/>
          </a:p>
        </p:txBody>
      </p:sp>
      <p:sp>
        <p:nvSpPr>
          <p:cNvPr id="32" name="Shape 29"/>
          <p:cNvSpPr/>
          <p:nvPr/>
        </p:nvSpPr>
        <p:spPr>
          <a:xfrm>
            <a:off x="6839712" y="4379976"/>
            <a:ext cx="1499616" cy="329184"/>
          </a:xfrm>
          <a:prstGeom prst="roundRect">
            <a:avLst>
              <a:gd name="adj" fmla="val 27778"/>
            </a:avLst>
          </a:prstGeom>
          <a:solidFill>
            <a:srgbClr val="F8FF3E"/>
          </a:solidFill>
          <a:ln w="19050">
            <a:solidFill>
              <a:srgbClr val="1C1B1B"/>
            </a:solidFill>
            <a:prstDash val="solid"/>
          </a:ln>
        </p:spPr>
      </p:sp>
      <p:sp>
        <p:nvSpPr>
          <p:cNvPr id="33" name="Text 30"/>
          <p:cNvSpPr txBox="1"/>
          <p:nvPr/>
        </p:nvSpPr>
        <p:spPr>
          <a:xfrm>
            <a:off x="6839712" y="4379976"/>
            <a:ext cx="149961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確認して登録する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技術構成</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6B7000"/>
                </a:solidFill>
                <a:latin typeface="Yu Gothic" pitchFamily="34" charset="0"/>
                <a:ea typeface="Yu Gothic" pitchFamily="34" charset="-122"/>
                <a:cs typeface="Yu Gothic" pitchFamily="34" charset="-120"/>
              </a:rPr>
              <a:t>円滑な運用</a:t>
            </a:r>
            <a:pPr algn="ctr" indent="0" marL="0">
              <a:buNone/>
            </a:pPr>
            <a:r>
              <a:rPr lang="en-US" sz="2400" b="1" dirty="0">
                <a:solidFill>
                  <a:srgbClr val="1C1B1B"/>
                </a:solidFill>
                <a:latin typeface="Yu Gothic" pitchFamily="34" charset="0"/>
                <a:ea typeface="Yu Gothic" pitchFamily="34" charset="-122"/>
                <a:cs typeface="Yu Gothic" pitchFamily="34" charset="-120"/>
              </a:rPr>
              <a:t>に向けて</a:t>
            </a:r>
            <a:endParaRPr lang="en-US" sz="2400" dirty="0"/>
          </a:p>
        </p:txBody>
      </p:sp>
      <p:sp>
        <p:nvSpPr>
          <p:cNvPr id="6" name="Shape 3"/>
          <p:cNvSpPr/>
          <p:nvPr/>
        </p:nvSpPr>
        <p:spPr>
          <a:xfrm>
            <a:off x="822960" y="1554480"/>
            <a:ext cx="356616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822960" y="1554480"/>
            <a:ext cx="35661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オブザーバビリティ</a:t>
            </a:r>
            <a:endParaRPr lang="en-US" sz="1200" dirty="0"/>
          </a:p>
        </p:txBody>
      </p:sp>
      <p:sp>
        <p:nvSpPr>
          <p:cNvPr id="8" name="Text 5"/>
          <p:cNvSpPr txBox="1"/>
          <p:nvPr/>
        </p:nvSpPr>
        <p:spPr>
          <a:xfrm>
            <a:off x="822960" y="2103120"/>
            <a:ext cx="356616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Cloudflare Workers Logs で</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FE/BE のログ・メトリクスを確認</a:t>
            </a:r>
            <a:endParaRPr lang="en-US" sz="1200" dirty="0"/>
          </a:p>
        </p:txBody>
      </p:sp>
      <p:sp>
        <p:nvSpPr>
          <p:cNvPr id="9" name="Shape 6"/>
          <p:cNvSpPr/>
          <p:nvPr/>
        </p:nvSpPr>
        <p:spPr>
          <a:xfrm>
            <a:off x="2240280" y="2926080"/>
            <a:ext cx="731520" cy="731520"/>
          </a:xfrm>
          <a:prstGeom prst="ellipse">
            <a:avLst/>
          </a:prstGeom>
          <a:solidFill>
            <a:srgbClr val="13F3CE"/>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2401214" y="3087014"/>
            <a:ext cx="409651" cy="409651"/>
          </a:xfrm>
          <a:prstGeom prst="rect">
            <a:avLst/>
          </a:prstGeom>
        </p:spPr>
      </p:pic>
      <p:sp>
        <p:nvSpPr>
          <p:cNvPr id="11" name="Text 7"/>
          <p:cNvSpPr txBox="1"/>
          <p:nvPr/>
        </p:nvSpPr>
        <p:spPr>
          <a:xfrm>
            <a:off x="822960" y="3840480"/>
            <a:ext cx="3566160" cy="36576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追加の監視SaaS 不要・本番は25%サンプリング</a:t>
            </a:r>
            <a:endParaRPr lang="en-US" sz="1100" dirty="0"/>
          </a:p>
        </p:txBody>
      </p:sp>
      <p:sp>
        <p:nvSpPr>
          <p:cNvPr id="12" name="Shape 8"/>
          <p:cNvSpPr/>
          <p:nvPr/>
        </p:nvSpPr>
        <p:spPr>
          <a:xfrm>
            <a:off x="4754880" y="1554480"/>
            <a:ext cx="3566160" cy="384048"/>
          </a:xfrm>
          <a:prstGeom prst="roundRect">
            <a:avLst>
              <a:gd name="adj" fmla="val 50000"/>
            </a:avLst>
          </a:prstGeom>
          <a:solidFill>
            <a:srgbClr val="F4F4F7"/>
          </a:solidFill>
          <a:ln w="22225">
            <a:solidFill>
              <a:srgbClr val="1C1B1B"/>
            </a:solidFill>
            <a:prstDash val="solid"/>
          </a:ln>
        </p:spPr>
      </p:sp>
      <p:sp>
        <p:nvSpPr>
          <p:cNvPr id="13" name="Text 9"/>
          <p:cNvSpPr txBox="1"/>
          <p:nvPr/>
        </p:nvSpPr>
        <p:spPr>
          <a:xfrm>
            <a:off x="4754880" y="1554480"/>
            <a:ext cx="35661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高水準の CI/CD</a:t>
            </a:r>
            <a:endParaRPr lang="en-US" sz="1200" dirty="0"/>
          </a:p>
        </p:txBody>
      </p:sp>
      <p:sp>
        <p:nvSpPr>
          <p:cNvPr id="14" name="Text 10"/>
          <p:cNvSpPr txBox="1"/>
          <p:nvPr/>
        </p:nvSpPr>
        <p:spPr>
          <a:xfrm>
            <a:off x="4754880" y="2103120"/>
            <a:ext cx="356616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push 前に lint・型・テスト・規約チェック一式</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GitHub Actions で staging / production へ</a:t>
            </a:r>
            <a:endParaRPr lang="en-US" sz="1200" dirty="0"/>
          </a:p>
        </p:txBody>
      </p:sp>
      <p:sp>
        <p:nvSpPr>
          <p:cNvPr id="15" name="Shape 11"/>
          <p:cNvSpPr/>
          <p:nvPr/>
        </p:nvSpPr>
        <p:spPr>
          <a:xfrm>
            <a:off x="6172200" y="2926080"/>
            <a:ext cx="731520" cy="731520"/>
          </a:xfrm>
          <a:prstGeom prst="ellipse">
            <a:avLst/>
          </a:prstGeom>
          <a:solidFill>
            <a:srgbClr val="F8FF3E"/>
          </a:solidFill>
          <a:ln w="25400">
            <a:solidFill>
              <a:srgbClr val="1C1B1B"/>
            </a:solidFill>
            <a:prstDash val="solid"/>
          </a:ln>
        </p:spPr>
      </p:sp>
      <p:pic>
        <p:nvPicPr>
          <p:cNvPr id="16" name="Image 2" descr="preencoded.png">    </p:cNvPr>
          <p:cNvPicPr>
            <a:picLocks noChangeAspect="1"/>
          </p:cNvPicPr>
          <p:nvPr/>
        </p:nvPicPr>
        <p:blipFill>
          <a:blip r:embed="rId3"/>
          <a:stretch>
            <a:fillRect/>
          </a:stretch>
        </p:blipFill>
        <p:spPr>
          <a:xfrm>
            <a:off x="6333134" y="3087014"/>
            <a:ext cx="409651" cy="409651"/>
          </a:xfrm>
          <a:prstGeom prst="rect">
            <a:avLst/>
          </a:prstGeom>
        </p:spPr>
      </p:pic>
      <p:sp>
        <p:nvSpPr>
          <p:cNvPr id="17" name="Text 12"/>
          <p:cNvSpPr txBox="1"/>
          <p:nvPr/>
        </p:nvSpPr>
        <p:spPr>
          <a:xfrm>
            <a:off x="4754880" y="3840480"/>
            <a:ext cx="3566160" cy="36576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CI の失敗は Claude が自動で修正を提案</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技術構成</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Cloudflare で完結する</a:t>
            </a:r>
            <a:pPr algn="ctr" indent="0" marL="0">
              <a:buNone/>
            </a:pPr>
            <a:r>
              <a:rPr lang="en-US" sz="2400" b="1" dirty="0">
                <a:solidFill>
                  <a:srgbClr val="6B7000"/>
                </a:solidFill>
                <a:latin typeface="Yu Gothic" pitchFamily="34" charset="0"/>
                <a:ea typeface="Yu Gothic" pitchFamily="34" charset="-122"/>
                <a:cs typeface="Yu Gothic" pitchFamily="34" charset="-120"/>
              </a:rPr>
              <a:t>低コスト</a:t>
            </a:r>
            <a:pPr algn="ctr" indent="0" marL="0">
              <a:buNone/>
            </a:pPr>
            <a:r>
              <a:rPr lang="en-US" sz="2400" b="1" dirty="0">
                <a:solidFill>
                  <a:srgbClr val="1C1B1B"/>
                </a:solidFill>
                <a:latin typeface="Yu Gothic" pitchFamily="34" charset="0"/>
                <a:ea typeface="Yu Gothic" pitchFamily="34" charset="-122"/>
                <a:cs typeface="Yu Gothic" pitchFamily="34" charset="-120"/>
              </a:rPr>
              <a:t>な構成</a:t>
            </a:r>
            <a:endParaRPr lang="en-US" sz="2400" dirty="0"/>
          </a:p>
        </p:txBody>
      </p:sp>
      <p:sp>
        <p:nvSpPr>
          <p:cNvPr id="6" name="Text 3"/>
          <p:cNvSpPr txBox="1"/>
          <p:nvPr/>
        </p:nvSpPr>
        <p:spPr>
          <a:xfrm>
            <a:off x="50292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型をバックエンドから借りる</a:t>
            </a:r>
            <a:endParaRPr lang="en-US" sz="1100" dirty="0"/>
          </a:p>
        </p:txBody>
      </p:sp>
      <p:sp>
        <p:nvSpPr>
          <p:cNvPr id="7" name="Text 4"/>
          <p:cNvSpPr txBox="1"/>
          <p:nvPr/>
        </p:nvSpPr>
        <p:spPr>
          <a:xfrm>
            <a:off x="352044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Hono RPC で型を共有</a:t>
            </a:r>
            <a:endParaRPr lang="en-US" sz="1100" dirty="0"/>
          </a:p>
        </p:txBody>
      </p:sp>
      <p:sp>
        <p:nvSpPr>
          <p:cNvPr id="8" name="Text 5"/>
          <p:cNvSpPr txBox="1"/>
          <p:nvPr/>
        </p:nvSpPr>
        <p:spPr>
          <a:xfrm>
            <a:off x="617220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Cloudflare 内で完結</a:t>
            </a:r>
            <a:endParaRPr lang="en-US" sz="1100" dirty="0"/>
          </a:p>
        </p:txBody>
      </p:sp>
      <p:sp>
        <p:nvSpPr>
          <p:cNvPr id="9" name="Shape 6"/>
          <p:cNvSpPr/>
          <p:nvPr/>
        </p:nvSpPr>
        <p:spPr>
          <a:xfrm>
            <a:off x="548640" y="1645920"/>
            <a:ext cx="2377440" cy="2377440"/>
          </a:xfrm>
          <a:prstGeom prst="roundRect">
            <a:avLst>
              <a:gd name="adj" fmla="val 5385"/>
            </a:avLst>
          </a:prstGeom>
          <a:solidFill>
            <a:srgbClr val="FDFFD1"/>
          </a:solidFill>
          <a:ln w="22225">
            <a:solidFill>
              <a:srgbClr val="1C1B1B"/>
            </a:solidFill>
            <a:prstDash val="dash"/>
          </a:ln>
        </p:spPr>
      </p:sp>
      <p:sp>
        <p:nvSpPr>
          <p:cNvPr id="10" name="Text 7"/>
          <p:cNvSpPr txBox="1"/>
          <p:nvPr/>
        </p:nvSpPr>
        <p:spPr>
          <a:xfrm>
            <a:off x="548640" y="1737360"/>
            <a:ext cx="2377440" cy="320040"/>
          </a:xfrm>
          <a:prstGeom prst="rect">
            <a:avLst/>
          </a:prstGeom>
          <a:noFill/>
          <a:ln/>
        </p:spPr>
        <p:txBody>
          <a:bodyPr wrap="square" lIns="0" tIns="0" rIns="0" bIns="0" rtlCol="0" anchor="ctr"/>
          <a:lstStyle/>
          <a:p>
            <a:pPr algn="ctr" indent="0" marL="0">
              <a:buNone/>
            </a:pPr>
            <a:r>
              <a:rPr lang="en-US" sz="1400" b="1" dirty="0">
                <a:solidFill>
                  <a:srgbClr val="1C1B1B"/>
                </a:solidFill>
                <a:latin typeface="Yu Gothic" pitchFamily="34" charset="0"/>
                <a:ea typeface="Yu Gothic" pitchFamily="34" charset="-122"/>
                <a:cs typeface="Yu Gothic" pitchFamily="34" charset="-120"/>
              </a:rPr>
              <a:t>Frontend</a:t>
            </a:r>
            <a:endParaRPr lang="en-US" sz="1400" dirty="0"/>
          </a:p>
        </p:txBody>
      </p:sp>
      <p:sp>
        <p:nvSpPr>
          <p:cNvPr id="11" name="Shape 8"/>
          <p:cNvSpPr/>
          <p:nvPr/>
        </p:nvSpPr>
        <p:spPr>
          <a:xfrm>
            <a:off x="731520" y="2194560"/>
            <a:ext cx="2011680" cy="237744"/>
          </a:xfrm>
          <a:prstGeom prst="roundRect">
            <a:avLst>
              <a:gd name="adj" fmla="val 50000"/>
            </a:avLst>
          </a:prstGeom>
          <a:solidFill>
            <a:srgbClr val="FFFFFF"/>
          </a:solidFill>
          <a:ln w="15875">
            <a:solidFill>
              <a:srgbClr val="1C1B1B"/>
            </a:solidFill>
            <a:prstDash val="solid"/>
          </a:ln>
        </p:spPr>
      </p:sp>
      <p:sp>
        <p:nvSpPr>
          <p:cNvPr id="12" name="Text 9"/>
          <p:cNvSpPr txBox="1"/>
          <p:nvPr/>
        </p:nvSpPr>
        <p:spPr>
          <a:xfrm>
            <a:off x="731520" y="219456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Next.js（静的書き出し）</a:t>
            </a:r>
            <a:endParaRPr lang="en-US" sz="1000" dirty="0"/>
          </a:p>
        </p:txBody>
      </p:sp>
      <p:sp>
        <p:nvSpPr>
          <p:cNvPr id="13" name="Shape 10"/>
          <p:cNvSpPr/>
          <p:nvPr/>
        </p:nvSpPr>
        <p:spPr>
          <a:xfrm>
            <a:off x="731520" y="2560320"/>
            <a:ext cx="2011680" cy="237744"/>
          </a:xfrm>
          <a:prstGeom prst="roundRect">
            <a:avLst>
              <a:gd name="adj" fmla="val 50000"/>
            </a:avLst>
          </a:prstGeom>
          <a:solidFill>
            <a:srgbClr val="FFFFFF"/>
          </a:solidFill>
          <a:ln w="15875">
            <a:solidFill>
              <a:srgbClr val="1C1B1B"/>
            </a:solidFill>
            <a:prstDash val="solid"/>
          </a:ln>
        </p:spPr>
      </p:sp>
      <p:sp>
        <p:nvSpPr>
          <p:cNvPr id="14" name="Text 11"/>
          <p:cNvSpPr txBox="1"/>
          <p:nvPr/>
        </p:nvSpPr>
        <p:spPr>
          <a:xfrm>
            <a:off x="731520" y="256032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React / TypeScript</a:t>
            </a:r>
            <a:endParaRPr lang="en-US" sz="1000" dirty="0"/>
          </a:p>
        </p:txBody>
      </p:sp>
      <p:sp>
        <p:nvSpPr>
          <p:cNvPr id="15" name="Shape 12"/>
          <p:cNvSpPr/>
          <p:nvPr/>
        </p:nvSpPr>
        <p:spPr>
          <a:xfrm>
            <a:off x="731520" y="2926080"/>
            <a:ext cx="2011680" cy="237744"/>
          </a:xfrm>
          <a:prstGeom prst="roundRect">
            <a:avLst>
              <a:gd name="adj" fmla="val 50000"/>
            </a:avLst>
          </a:prstGeom>
          <a:solidFill>
            <a:srgbClr val="FFFFFF"/>
          </a:solidFill>
          <a:ln w="15875">
            <a:solidFill>
              <a:srgbClr val="1C1B1B"/>
            </a:solidFill>
            <a:prstDash val="solid"/>
          </a:ln>
        </p:spPr>
      </p:sp>
      <p:sp>
        <p:nvSpPr>
          <p:cNvPr id="16" name="Text 13"/>
          <p:cNvSpPr txBox="1"/>
          <p:nvPr/>
        </p:nvSpPr>
        <p:spPr>
          <a:xfrm>
            <a:off x="731520" y="292608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Workers Static Assets</a:t>
            </a:r>
            <a:endParaRPr lang="en-US" sz="1000" dirty="0"/>
          </a:p>
        </p:txBody>
      </p:sp>
      <p:sp>
        <p:nvSpPr>
          <p:cNvPr id="17" name="Shape 14"/>
          <p:cNvSpPr/>
          <p:nvPr/>
        </p:nvSpPr>
        <p:spPr>
          <a:xfrm>
            <a:off x="731520" y="3291840"/>
            <a:ext cx="2011680" cy="237744"/>
          </a:xfrm>
          <a:prstGeom prst="roundRect">
            <a:avLst>
              <a:gd name="adj" fmla="val 50000"/>
            </a:avLst>
          </a:prstGeom>
          <a:solidFill>
            <a:srgbClr val="FFFFFF"/>
          </a:solidFill>
          <a:ln w="15875">
            <a:solidFill>
              <a:srgbClr val="1C1B1B"/>
            </a:solidFill>
            <a:prstDash val="solid"/>
          </a:ln>
        </p:spPr>
      </p:sp>
      <p:sp>
        <p:nvSpPr>
          <p:cNvPr id="18" name="Text 15"/>
          <p:cNvSpPr txBox="1"/>
          <p:nvPr/>
        </p:nvSpPr>
        <p:spPr>
          <a:xfrm>
            <a:off x="731520" y="329184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Leaflet（地図）</a:t>
            </a:r>
            <a:endParaRPr lang="en-US" sz="1000" dirty="0"/>
          </a:p>
        </p:txBody>
      </p:sp>
      <p:sp>
        <p:nvSpPr>
          <p:cNvPr id="19" name="Shape 16"/>
          <p:cNvSpPr/>
          <p:nvPr/>
        </p:nvSpPr>
        <p:spPr>
          <a:xfrm>
            <a:off x="6217920" y="1645920"/>
            <a:ext cx="2377440" cy="2377440"/>
          </a:xfrm>
          <a:prstGeom prst="roundRect">
            <a:avLst>
              <a:gd name="adj" fmla="val 5385"/>
            </a:avLst>
          </a:prstGeom>
          <a:solidFill>
            <a:srgbClr val="D7FDF6"/>
          </a:solidFill>
          <a:ln w="22225">
            <a:solidFill>
              <a:srgbClr val="1C1B1B"/>
            </a:solidFill>
            <a:prstDash val="dash"/>
          </a:ln>
        </p:spPr>
      </p:sp>
      <p:sp>
        <p:nvSpPr>
          <p:cNvPr id="20" name="Text 17"/>
          <p:cNvSpPr txBox="1"/>
          <p:nvPr/>
        </p:nvSpPr>
        <p:spPr>
          <a:xfrm>
            <a:off x="6217920" y="1737360"/>
            <a:ext cx="2377440" cy="320040"/>
          </a:xfrm>
          <a:prstGeom prst="rect">
            <a:avLst/>
          </a:prstGeom>
          <a:noFill/>
          <a:ln/>
        </p:spPr>
        <p:txBody>
          <a:bodyPr wrap="square" lIns="0" tIns="0" rIns="0" bIns="0" rtlCol="0" anchor="ctr"/>
          <a:lstStyle/>
          <a:p>
            <a:pPr algn="ctr" indent="0" marL="0">
              <a:buNone/>
            </a:pPr>
            <a:r>
              <a:rPr lang="en-US" sz="1400" b="1" dirty="0">
                <a:solidFill>
                  <a:srgbClr val="1C1B1B"/>
                </a:solidFill>
                <a:latin typeface="Yu Gothic" pitchFamily="34" charset="0"/>
                <a:ea typeface="Yu Gothic" pitchFamily="34" charset="-122"/>
                <a:cs typeface="Yu Gothic" pitchFamily="34" charset="-120"/>
              </a:rPr>
              <a:t>Backend</a:t>
            </a:r>
            <a:endParaRPr lang="en-US" sz="1400" dirty="0"/>
          </a:p>
        </p:txBody>
      </p:sp>
      <p:sp>
        <p:nvSpPr>
          <p:cNvPr id="21" name="Shape 18"/>
          <p:cNvSpPr/>
          <p:nvPr/>
        </p:nvSpPr>
        <p:spPr>
          <a:xfrm>
            <a:off x="6400800" y="2194560"/>
            <a:ext cx="2011680"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400800" y="219456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Workers + Hono</a:t>
            </a:r>
            <a:endParaRPr lang="en-US" sz="1000" dirty="0"/>
          </a:p>
        </p:txBody>
      </p:sp>
      <p:sp>
        <p:nvSpPr>
          <p:cNvPr id="23" name="Shape 20"/>
          <p:cNvSpPr/>
          <p:nvPr/>
        </p:nvSpPr>
        <p:spPr>
          <a:xfrm>
            <a:off x="6400800" y="2560320"/>
            <a:ext cx="2011680" cy="237744"/>
          </a:xfrm>
          <a:prstGeom prst="roundRect">
            <a:avLst>
              <a:gd name="adj" fmla="val 50000"/>
            </a:avLst>
          </a:prstGeom>
          <a:solidFill>
            <a:srgbClr val="FFFFFF"/>
          </a:solidFill>
          <a:ln w="15875">
            <a:solidFill>
              <a:srgbClr val="1C1B1B"/>
            </a:solidFill>
            <a:prstDash val="solid"/>
          </a:ln>
        </p:spPr>
      </p:sp>
      <p:sp>
        <p:nvSpPr>
          <p:cNvPr id="24" name="Text 21"/>
          <p:cNvSpPr txBox="1"/>
          <p:nvPr/>
        </p:nvSpPr>
        <p:spPr>
          <a:xfrm>
            <a:off x="6400800" y="256032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D1 + Drizzle ORM</a:t>
            </a:r>
            <a:endParaRPr lang="en-US" sz="1000" dirty="0"/>
          </a:p>
        </p:txBody>
      </p:sp>
      <p:sp>
        <p:nvSpPr>
          <p:cNvPr id="25" name="Shape 22"/>
          <p:cNvSpPr/>
          <p:nvPr/>
        </p:nvSpPr>
        <p:spPr>
          <a:xfrm>
            <a:off x="6400800" y="2926080"/>
            <a:ext cx="2011680" cy="237744"/>
          </a:xfrm>
          <a:prstGeom prst="roundRect">
            <a:avLst>
              <a:gd name="adj" fmla="val 50000"/>
            </a:avLst>
          </a:prstGeom>
          <a:solidFill>
            <a:srgbClr val="FFFFFF"/>
          </a:solidFill>
          <a:ln w="15875">
            <a:solidFill>
              <a:srgbClr val="1C1B1B"/>
            </a:solidFill>
            <a:prstDash val="solid"/>
          </a:ln>
        </p:spPr>
      </p:sp>
      <p:sp>
        <p:nvSpPr>
          <p:cNvPr id="26" name="Text 23"/>
          <p:cNvSpPr txBox="1"/>
          <p:nvPr/>
        </p:nvSpPr>
        <p:spPr>
          <a:xfrm>
            <a:off x="6400800" y="292608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KV / R2</a:t>
            </a:r>
            <a:endParaRPr lang="en-US" sz="1000" dirty="0"/>
          </a:p>
        </p:txBody>
      </p:sp>
      <p:sp>
        <p:nvSpPr>
          <p:cNvPr id="27" name="Shape 24"/>
          <p:cNvSpPr/>
          <p:nvPr/>
        </p:nvSpPr>
        <p:spPr>
          <a:xfrm>
            <a:off x="6400800" y="3291840"/>
            <a:ext cx="2011680" cy="237744"/>
          </a:xfrm>
          <a:prstGeom prst="roundRect">
            <a:avLst>
              <a:gd name="adj" fmla="val 50000"/>
            </a:avLst>
          </a:prstGeom>
          <a:solidFill>
            <a:srgbClr val="FFFFFF"/>
          </a:solidFill>
          <a:ln w="15875">
            <a:solidFill>
              <a:srgbClr val="1C1B1B"/>
            </a:solidFill>
            <a:prstDash val="solid"/>
          </a:ln>
        </p:spPr>
      </p:sp>
      <p:sp>
        <p:nvSpPr>
          <p:cNvPr id="28" name="Text 25"/>
          <p:cNvSpPr txBox="1"/>
          <p:nvPr/>
        </p:nvSpPr>
        <p:spPr>
          <a:xfrm>
            <a:off x="6400800" y="329184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DDD + Clean Arch</a:t>
            </a:r>
            <a:endParaRPr lang="en-US" sz="1000" dirty="0"/>
          </a:p>
        </p:txBody>
      </p:sp>
      <p:sp>
        <p:nvSpPr>
          <p:cNvPr id="29" name="Shape 26"/>
          <p:cNvSpPr/>
          <p:nvPr/>
        </p:nvSpPr>
        <p:spPr>
          <a:xfrm>
            <a:off x="3063240" y="2377440"/>
            <a:ext cx="3017520" cy="0"/>
          </a:xfrm>
          <a:prstGeom prst="line">
            <a:avLst/>
          </a:prstGeom>
          <a:noFill/>
          <a:ln w="25400">
            <a:solidFill>
              <a:srgbClr val="1C1B1B"/>
            </a:solidFill>
            <a:prstDash val="solid"/>
            <a:headEnd type="triangle"/>
            <a:tailEnd type="triangle"/>
          </a:ln>
        </p:spPr>
      </p:sp>
      <p:sp>
        <p:nvSpPr>
          <p:cNvPr id="30" name="Text 27"/>
          <p:cNvSpPr txBox="1"/>
          <p:nvPr/>
        </p:nvSpPr>
        <p:spPr>
          <a:xfrm>
            <a:off x="3063240" y="2057400"/>
            <a:ext cx="3017520" cy="27432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hc&lt;AppType&gt;</a:t>
            </a:r>
            <a:endParaRPr lang="en-US" sz="1100" dirty="0"/>
          </a:p>
        </p:txBody>
      </p:sp>
      <p:sp>
        <p:nvSpPr>
          <p:cNvPr id="31" name="Shape 28"/>
          <p:cNvSpPr/>
          <p:nvPr/>
        </p:nvSpPr>
        <p:spPr>
          <a:xfrm>
            <a:off x="3291840" y="2880360"/>
            <a:ext cx="2560320" cy="1143000"/>
          </a:xfrm>
          <a:prstGeom prst="roundRect">
            <a:avLst>
              <a:gd name="adj" fmla="val 11200"/>
            </a:avLst>
          </a:prstGeom>
          <a:solidFill>
            <a:srgbClr val="ECEAE4"/>
          </a:solidFill>
          <a:ln w="25400">
            <a:solidFill>
              <a:srgbClr val="1C1B1B"/>
            </a:solidFill>
            <a:prstDash val="solid"/>
          </a:ln>
        </p:spPr>
      </p:sp>
      <p:sp>
        <p:nvSpPr>
          <p:cNvPr id="32" name="Text 29"/>
          <p:cNvSpPr txBox="1"/>
          <p:nvPr/>
        </p:nvSpPr>
        <p:spPr>
          <a:xfrm>
            <a:off x="3291840" y="2926080"/>
            <a:ext cx="2560320" cy="292608"/>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AI</a:t>
            </a:r>
            <a:endParaRPr lang="en-US" sz="1300" dirty="0"/>
          </a:p>
        </p:txBody>
      </p:sp>
      <p:sp>
        <p:nvSpPr>
          <p:cNvPr id="33" name="Shape 30"/>
          <p:cNvSpPr/>
          <p:nvPr/>
        </p:nvSpPr>
        <p:spPr>
          <a:xfrm>
            <a:off x="3474720" y="3246120"/>
            <a:ext cx="2194560" cy="237744"/>
          </a:xfrm>
          <a:prstGeom prst="roundRect">
            <a:avLst>
              <a:gd name="adj" fmla="val 50000"/>
            </a:avLst>
          </a:prstGeom>
          <a:solidFill>
            <a:srgbClr val="FFFFFF"/>
          </a:solidFill>
          <a:ln w="15875">
            <a:solidFill>
              <a:srgbClr val="1C1B1B"/>
            </a:solidFill>
            <a:prstDash val="solid"/>
          </a:ln>
        </p:spPr>
      </p:sp>
      <p:sp>
        <p:nvSpPr>
          <p:cNvPr id="34" name="Text 31"/>
          <p:cNvSpPr txBox="1"/>
          <p:nvPr/>
        </p:nvSpPr>
        <p:spPr>
          <a:xfrm>
            <a:off x="3474720" y="3246120"/>
            <a:ext cx="2194560" cy="23774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ビジョンLLM（タグ推定）</a:t>
            </a:r>
            <a:endParaRPr lang="en-US" sz="900" dirty="0"/>
          </a:p>
        </p:txBody>
      </p:sp>
      <p:sp>
        <p:nvSpPr>
          <p:cNvPr id="35" name="Shape 32"/>
          <p:cNvSpPr/>
          <p:nvPr/>
        </p:nvSpPr>
        <p:spPr>
          <a:xfrm>
            <a:off x="3474720" y="3593592"/>
            <a:ext cx="2194560" cy="237744"/>
          </a:xfrm>
          <a:prstGeom prst="roundRect">
            <a:avLst>
              <a:gd name="adj" fmla="val 50000"/>
            </a:avLst>
          </a:prstGeom>
          <a:solidFill>
            <a:srgbClr val="FFFFFF"/>
          </a:solidFill>
          <a:ln w="15875">
            <a:solidFill>
              <a:srgbClr val="1C1B1B"/>
            </a:solidFill>
            <a:prstDash val="solid"/>
          </a:ln>
        </p:spPr>
      </p:sp>
      <p:sp>
        <p:nvSpPr>
          <p:cNvPr id="36" name="Text 33"/>
          <p:cNvSpPr txBox="1"/>
          <p:nvPr/>
        </p:nvSpPr>
        <p:spPr>
          <a:xfrm>
            <a:off x="3474720" y="3593592"/>
            <a:ext cx="2194560" cy="23774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埋め込み + Vectorize</a:t>
            </a:r>
            <a:endParaRPr lang="en-US" sz="900" dirty="0"/>
          </a:p>
        </p:txBody>
      </p:sp>
      <p:sp>
        <p:nvSpPr>
          <p:cNvPr id="37" name="Text 34"/>
          <p:cNvSpPr txBox="1"/>
          <p:nvPr/>
        </p:nvSpPr>
        <p:spPr>
          <a:xfrm>
            <a:off x="548640" y="4343400"/>
            <a:ext cx="8046720" cy="32004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Lean で交換アルゴリズムの計算量を形式証明</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安心して取引するために</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取引後まで見守る機能</a:t>
            </a:r>
            <a:endParaRPr lang="en-US" sz="2400" dirty="0"/>
          </a:p>
        </p:txBody>
      </p:sp>
      <p:sp>
        <p:nvSpPr>
          <p:cNvPr id="6" name="Shape 3"/>
          <p:cNvSpPr/>
          <p:nvPr/>
        </p:nvSpPr>
        <p:spPr>
          <a:xfrm>
            <a:off x="502920" y="1481328"/>
            <a:ext cx="246888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029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取引後の相互評価</a:t>
            </a:r>
            <a:endParaRPr lang="en-US" sz="1200" dirty="0"/>
          </a:p>
        </p:txBody>
      </p:sp>
      <p:sp>
        <p:nvSpPr>
          <p:cNvPr id="8" name="Shape 5"/>
          <p:cNvSpPr/>
          <p:nvPr/>
        </p:nvSpPr>
        <p:spPr>
          <a:xfrm>
            <a:off x="1188720" y="2148840"/>
            <a:ext cx="1097280" cy="109728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430122" y="2390242"/>
            <a:ext cx="614477" cy="614477"/>
          </a:xfrm>
          <a:prstGeom prst="rect">
            <a:avLst/>
          </a:prstGeom>
        </p:spPr>
      </p:pic>
      <p:sp>
        <p:nvSpPr>
          <p:cNvPr id="10" name="Text 6"/>
          <p:cNvSpPr txBox="1"/>
          <p:nvPr/>
        </p:nvSpPr>
        <p:spPr>
          <a:xfrm>
            <a:off x="5029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お互いを5段階で評価。</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相手の評価はカードから確認</a:t>
            </a:r>
            <a:endParaRPr lang="en-US" sz="1200" dirty="0"/>
          </a:p>
        </p:txBody>
      </p:sp>
      <p:sp>
        <p:nvSpPr>
          <p:cNvPr id="11" name="Shape 7"/>
          <p:cNvSpPr/>
          <p:nvPr/>
        </p:nvSpPr>
        <p:spPr>
          <a:xfrm>
            <a:off x="3246120" y="1481328"/>
            <a:ext cx="246888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2461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通報で自動停止</a:t>
            </a:r>
            <a:endParaRPr lang="en-US" sz="1200" dirty="0"/>
          </a:p>
        </p:txBody>
      </p:sp>
      <p:sp>
        <p:nvSpPr>
          <p:cNvPr id="13" name="Shape 9"/>
          <p:cNvSpPr/>
          <p:nvPr/>
        </p:nvSpPr>
        <p:spPr>
          <a:xfrm>
            <a:off x="3931920" y="2148840"/>
            <a:ext cx="1097280" cy="1097280"/>
          </a:xfrm>
          <a:prstGeom prst="ellipse">
            <a:avLst/>
          </a:prstGeom>
          <a:solidFill>
            <a:srgbClr val="13F3CE"/>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173322" y="2390242"/>
            <a:ext cx="614477" cy="614477"/>
          </a:xfrm>
          <a:prstGeom prst="rect">
            <a:avLst/>
          </a:prstGeom>
        </p:spPr>
      </p:pic>
      <p:sp>
        <p:nvSpPr>
          <p:cNvPr id="15" name="Text 10"/>
          <p:cNvSpPr txBox="1"/>
          <p:nvPr/>
        </p:nvSpPr>
        <p:spPr>
          <a:xfrm>
            <a:off x="32461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通報が重なったアカウントは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自動で利用を停止</a:t>
            </a:r>
            <a:endParaRPr lang="en-US" sz="1200" dirty="0"/>
          </a:p>
        </p:txBody>
      </p:sp>
      <p:sp>
        <p:nvSpPr>
          <p:cNvPr id="16" name="Shape 11"/>
          <p:cNvSpPr/>
          <p:nvPr/>
        </p:nvSpPr>
        <p:spPr>
          <a:xfrm>
            <a:off x="6355080" y="685800"/>
            <a:ext cx="2103120" cy="4206240"/>
          </a:xfrm>
          <a:prstGeom prst="roundRect">
            <a:avLst>
              <a:gd name="adj" fmla="val 13913"/>
            </a:avLst>
          </a:prstGeom>
          <a:solidFill>
            <a:srgbClr val="1C1B1B"/>
          </a:solidFill>
          <a:ln w="12700">
            <a:solidFill>
              <a:srgbClr val="1C1B1B"/>
            </a:solidFill>
            <a:prstDash val="solid"/>
          </a:ln>
        </p:spPr>
      </p:sp>
      <p:sp>
        <p:nvSpPr>
          <p:cNvPr id="17" name="Shape 12"/>
          <p:cNvSpPr/>
          <p:nvPr/>
        </p:nvSpPr>
        <p:spPr>
          <a:xfrm>
            <a:off x="6437376" y="768096"/>
            <a:ext cx="1938528" cy="4041648"/>
          </a:xfrm>
          <a:prstGeom prst="roundRect">
            <a:avLst>
              <a:gd name="adj" fmla="val 11792"/>
            </a:avLst>
          </a:prstGeom>
          <a:solidFill>
            <a:srgbClr val="FCF9F8"/>
          </a:solidFill>
          <a:ln w="12700">
            <a:solidFill>
              <a:srgbClr val="FCF9F8"/>
            </a:solidFill>
            <a:prstDash val="solid"/>
          </a:ln>
        </p:spPr>
      </p:sp>
      <p:sp>
        <p:nvSpPr>
          <p:cNvPr id="18" name="Shape 13"/>
          <p:cNvSpPr/>
          <p:nvPr/>
        </p:nvSpPr>
        <p:spPr>
          <a:xfrm>
            <a:off x="7086600" y="832104"/>
            <a:ext cx="640080" cy="128016"/>
          </a:xfrm>
          <a:prstGeom prst="roundRect">
            <a:avLst>
              <a:gd name="adj" fmla="val 50000"/>
            </a:avLst>
          </a:prstGeom>
          <a:solidFill>
            <a:srgbClr val="1C1B1B"/>
          </a:solidFill>
          <a:ln w="12700">
            <a:solidFill>
              <a:srgbClr val="1C1B1B"/>
            </a:solidFill>
            <a:prstDash val="solid"/>
          </a:ln>
        </p:spPr>
      </p:sp>
      <p:sp>
        <p:nvSpPr>
          <p:cNvPr id="19" name="Shape 14"/>
          <p:cNvSpPr/>
          <p:nvPr/>
        </p:nvSpPr>
        <p:spPr>
          <a:xfrm>
            <a:off x="6437376" y="1042416"/>
            <a:ext cx="1938528" cy="384048"/>
          </a:xfrm>
          <a:prstGeom prst="rect">
            <a:avLst/>
          </a:prstGeom>
          <a:solidFill>
            <a:srgbClr val="F8FF3E"/>
          </a:solidFill>
          <a:ln w="19050">
            <a:solidFill>
              <a:srgbClr val="1C1B1B"/>
            </a:solidFill>
            <a:prstDash val="solid"/>
          </a:ln>
        </p:spPr>
      </p:sp>
      <p:sp>
        <p:nvSpPr>
          <p:cNvPr id="20" name="Text 15"/>
          <p:cNvSpPr txBox="1"/>
          <p:nvPr/>
        </p:nvSpPr>
        <p:spPr>
          <a:xfrm>
            <a:off x="657453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1" name="Text 16"/>
          <p:cNvSpPr txBox="1"/>
          <p:nvPr/>
        </p:nvSpPr>
        <p:spPr>
          <a:xfrm>
            <a:off x="6565392" y="154533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取引の評価</a:t>
            </a:r>
            <a:endParaRPr lang="en-US" sz="900" dirty="0"/>
          </a:p>
        </p:txBody>
      </p:sp>
      <p:sp>
        <p:nvSpPr>
          <p:cNvPr id="22" name="Shape 17"/>
          <p:cNvSpPr/>
          <p:nvPr/>
        </p:nvSpPr>
        <p:spPr>
          <a:xfrm>
            <a:off x="6565392" y="1819656"/>
            <a:ext cx="1682496" cy="1188720"/>
          </a:xfrm>
          <a:prstGeom prst="roundRect">
            <a:avLst>
              <a:gd name="adj" fmla="val 10769"/>
            </a:avLst>
          </a:prstGeom>
          <a:solidFill>
            <a:srgbClr val="FFFFFF"/>
          </a:solidFill>
          <a:ln w="19050">
            <a:solidFill>
              <a:srgbClr val="1C1B1B"/>
            </a:solidFill>
            <a:prstDash val="solid"/>
          </a:ln>
        </p:spPr>
      </p:sp>
      <p:sp>
        <p:nvSpPr>
          <p:cNvPr id="23" name="Text 18"/>
          <p:cNvSpPr txBox="1"/>
          <p:nvPr/>
        </p:nvSpPr>
        <p:spPr>
          <a:xfrm>
            <a:off x="6565392" y="1874520"/>
            <a:ext cx="1682496" cy="548640"/>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Bさんとの取引は</a:t>
            </a:r>
            <a:endParaRPr lang="en-US" sz="10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いかがでしたか？</a:t>
            </a:r>
            <a:endParaRPr lang="en-US" sz="1000" dirty="0"/>
          </a:p>
        </p:txBody>
      </p:sp>
      <p:sp>
        <p:nvSpPr>
          <p:cNvPr id="24" name="Text 19"/>
          <p:cNvSpPr txBox="1"/>
          <p:nvPr/>
        </p:nvSpPr>
        <p:spPr>
          <a:xfrm>
            <a:off x="6565392" y="2459736"/>
            <a:ext cx="1682496" cy="411480"/>
          </a:xfrm>
          <a:prstGeom prst="rect">
            <a:avLst/>
          </a:prstGeom>
          <a:noFill/>
          <a:ln/>
        </p:spPr>
        <p:txBody>
          <a:bodyPr wrap="square" lIns="0" tIns="0" rIns="0" bIns="0" rtlCol="0" anchor="ctr"/>
          <a:lstStyle/>
          <a:p>
            <a:pPr algn="ctr" indent="0" marL="0">
              <a:buNone/>
            </a:pPr>
            <a:r>
              <a:rPr lang="en-US" sz="2000" b="1" dirty="0">
                <a:solidFill>
                  <a:srgbClr val="6B7000"/>
                </a:solidFill>
                <a:latin typeface="Yu Gothic" pitchFamily="34" charset="0"/>
                <a:ea typeface="Yu Gothic" pitchFamily="34" charset="-122"/>
                <a:cs typeface="Yu Gothic" pitchFamily="34" charset="-120"/>
              </a:rPr>
              <a:t>★★★★★</a:t>
            </a:r>
            <a:endParaRPr lang="en-US" sz="2000" dirty="0"/>
          </a:p>
        </p:txBody>
      </p:sp>
      <p:sp>
        <p:nvSpPr>
          <p:cNvPr id="25" name="Shape 20"/>
          <p:cNvSpPr/>
          <p:nvPr/>
        </p:nvSpPr>
        <p:spPr>
          <a:xfrm>
            <a:off x="6565392" y="3191256"/>
            <a:ext cx="1682496" cy="329184"/>
          </a:xfrm>
          <a:prstGeom prst="roundRect">
            <a:avLst>
              <a:gd name="adj" fmla="val 27778"/>
            </a:avLst>
          </a:prstGeom>
          <a:solidFill>
            <a:srgbClr val="F8FF3E"/>
          </a:solidFill>
          <a:ln w="19050">
            <a:solidFill>
              <a:srgbClr val="1C1B1B"/>
            </a:solidFill>
            <a:prstDash val="solid"/>
          </a:ln>
        </p:spPr>
      </p:sp>
      <p:sp>
        <p:nvSpPr>
          <p:cNvPr id="26" name="Text 21"/>
          <p:cNvSpPr txBox="1"/>
          <p:nvPr/>
        </p:nvSpPr>
        <p:spPr>
          <a:xfrm>
            <a:off x="6565392" y="319125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評価を送る</a:t>
            </a:r>
            <a:endParaRPr lang="en-US" sz="900" dirty="0"/>
          </a:p>
        </p:txBody>
      </p:sp>
      <p:sp>
        <p:nvSpPr>
          <p:cNvPr id="27" name="Text 22"/>
          <p:cNvSpPr txBox="1"/>
          <p:nvPr/>
        </p:nvSpPr>
        <p:spPr>
          <a:xfrm>
            <a:off x="6565392" y="3648456"/>
            <a:ext cx="1682496" cy="228600"/>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このユーザーを通報</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安心して取引するために</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取引後まで見守る機能</a:t>
            </a:r>
            <a:endParaRPr lang="en-US" sz="2400" dirty="0"/>
          </a:p>
        </p:txBody>
      </p:sp>
      <p:sp>
        <p:nvSpPr>
          <p:cNvPr id="6" name="Shape 3"/>
          <p:cNvSpPr/>
          <p:nvPr/>
        </p:nvSpPr>
        <p:spPr>
          <a:xfrm>
            <a:off x="502920" y="1481328"/>
            <a:ext cx="246888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029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取引後の相互評価</a:t>
            </a:r>
            <a:endParaRPr lang="en-US" sz="1200" dirty="0"/>
          </a:p>
        </p:txBody>
      </p:sp>
      <p:sp>
        <p:nvSpPr>
          <p:cNvPr id="8" name="Shape 5"/>
          <p:cNvSpPr/>
          <p:nvPr/>
        </p:nvSpPr>
        <p:spPr>
          <a:xfrm>
            <a:off x="1188720" y="2148840"/>
            <a:ext cx="1097280" cy="1097280"/>
          </a:xfrm>
          <a:prstGeom prst="ellipse">
            <a:avLst/>
          </a:prstGeom>
          <a:solidFill>
            <a:srgbClr val="F8FF3E"/>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430122" y="2390242"/>
            <a:ext cx="614477" cy="614477"/>
          </a:xfrm>
          <a:prstGeom prst="rect">
            <a:avLst/>
          </a:prstGeom>
        </p:spPr>
      </p:pic>
      <p:sp>
        <p:nvSpPr>
          <p:cNvPr id="10" name="Text 6"/>
          <p:cNvSpPr txBox="1"/>
          <p:nvPr/>
        </p:nvSpPr>
        <p:spPr>
          <a:xfrm>
            <a:off x="5029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お互いを5段階で評価。</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相手の評価はカードから確認</a:t>
            </a:r>
            <a:endParaRPr lang="en-US" sz="1200" dirty="0"/>
          </a:p>
        </p:txBody>
      </p:sp>
      <p:sp>
        <p:nvSpPr>
          <p:cNvPr id="11" name="Shape 7"/>
          <p:cNvSpPr/>
          <p:nvPr/>
        </p:nvSpPr>
        <p:spPr>
          <a:xfrm>
            <a:off x="3246120" y="1481328"/>
            <a:ext cx="246888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2461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通報で自動停止</a:t>
            </a:r>
            <a:endParaRPr lang="en-US" sz="1200" dirty="0"/>
          </a:p>
        </p:txBody>
      </p:sp>
      <p:sp>
        <p:nvSpPr>
          <p:cNvPr id="13" name="Shape 9"/>
          <p:cNvSpPr/>
          <p:nvPr/>
        </p:nvSpPr>
        <p:spPr>
          <a:xfrm>
            <a:off x="3931920" y="2148840"/>
            <a:ext cx="1097280" cy="1097280"/>
          </a:xfrm>
          <a:prstGeom prst="ellipse">
            <a:avLst/>
          </a:prstGeom>
          <a:solidFill>
            <a:srgbClr val="13F3CE"/>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173322" y="2390242"/>
            <a:ext cx="614477" cy="614477"/>
          </a:xfrm>
          <a:prstGeom prst="rect">
            <a:avLst/>
          </a:prstGeom>
        </p:spPr>
      </p:pic>
      <p:sp>
        <p:nvSpPr>
          <p:cNvPr id="15" name="Text 10"/>
          <p:cNvSpPr txBox="1"/>
          <p:nvPr/>
        </p:nvSpPr>
        <p:spPr>
          <a:xfrm>
            <a:off x="32461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通報が重なったアカウントは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自動で利用を停止</a:t>
            </a:r>
            <a:endParaRPr lang="en-US" sz="1200" dirty="0"/>
          </a:p>
        </p:txBody>
      </p:sp>
      <p:sp>
        <p:nvSpPr>
          <p:cNvPr id="16" name="Shape 11"/>
          <p:cNvSpPr/>
          <p:nvPr/>
        </p:nvSpPr>
        <p:spPr>
          <a:xfrm>
            <a:off x="6355080" y="685800"/>
            <a:ext cx="2103120" cy="4206240"/>
          </a:xfrm>
          <a:prstGeom prst="roundRect">
            <a:avLst>
              <a:gd name="adj" fmla="val 13913"/>
            </a:avLst>
          </a:prstGeom>
          <a:solidFill>
            <a:srgbClr val="1C1B1B"/>
          </a:solidFill>
          <a:ln w="12700">
            <a:solidFill>
              <a:srgbClr val="1C1B1B"/>
            </a:solidFill>
            <a:prstDash val="solid"/>
          </a:ln>
        </p:spPr>
      </p:sp>
      <p:sp>
        <p:nvSpPr>
          <p:cNvPr id="17" name="Shape 12"/>
          <p:cNvSpPr/>
          <p:nvPr/>
        </p:nvSpPr>
        <p:spPr>
          <a:xfrm>
            <a:off x="6437376" y="768096"/>
            <a:ext cx="1938528" cy="4041648"/>
          </a:xfrm>
          <a:prstGeom prst="roundRect">
            <a:avLst>
              <a:gd name="adj" fmla="val 11792"/>
            </a:avLst>
          </a:prstGeom>
          <a:solidFill>
            <a:srgbClr val="FCF9F8"/>
          </a:solidFill>
          <a:ln w="12700">
            <a:solidFill>
              <a:srgbClr val="FCF9F8"/>
            </a:solidFill>
            <a:prstDash val="solid"/>
          </a:ln>
        </p:spPr>
      </p:sp>
      <p:sp>
        <p:nvSpPr>
          <p:cNvPr id="18" name="Shape 13"/>
          <p:cNvSpPr/>
          <p:nvPr/>
        </p:nvSpPr>
        <p:spPr>
          <a:xfrm>
            <a:off x="7086600" y="832104"/>
            <a:ext cx="640080" cy="128016"/>
          </a:xfrm>
          <a:prstGeom prst="roundRect">
            <a:avLst>
              <a:gd name="adj" fmla="val 50000"/>
            </a:avLst>
          </a:prstGeom>
          <a:solidFill>
            <a:srgbClr val="1C1B1B"/>
          </a:solidFill>
          <a:ln w="12700">
            <a:solidFill>
              <a:srgbClr val="1C1B1B"/>
            </a:solidFill>
            <a:prstDash val="solid"/>
          </a:ln>
        </p:spPr>
      </p:sp>
      <p:sp>
        <p:nvSpPr>
          <p:cNvPr id="19" name="Shape 14"/>
          <p:cNvSpPr/>
          <p:nvPr/>
        </p:nvSpPr>
        <p:spPr>
          <a:xfrm>
            <a:off x="6437376" y="1042416"/>
            <a:ext cx="1938528" cy="384048"/>
          </a:xfrm>
          <a:prstGeom prst="rect">
            <a:avLst/>
          </a:prstGeom>
          <a:solidFill>
            <a:srgbClr val="F8FF3E"/>
          </a:solidFill>
          <a:ln w="19050">
            <a:solidFill>
              <a:srgbClr val="1C1B1B"/>
            </a:solidFill>
            <a:prstDash val="solid"/>
          </a:ln>
        </p:spPr>
      </p:sp>
      <p:sp>
        <p:nvSpPr>
          <p:cNvPr id="20" name="Text 15"/>
          <p:cNvSpPr txBox="1"/>
          <p:nvPr/>
        </p:nvSpPr>
        <p:spPr>
          <a:xfrm>
            <a:off x="6574536" y="104241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21" name="Text 16"/>
          <p:cNvSpPr txBox="1"/>
          <p:nvPr/>
        </p:nvSpPr>
        <p:spPr>
          <a:xfrm>
            <a:off x="6565392" y="154533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取引の評価</a:t>
            </a:r>
            <a:endParaRPr lang="en-US" sz="900" dirty="0"/>
          </a:p>
        </p:txBody>
      </p:sp>
      <p:sp>
        <p:nvSpPr>
          <p:cNvPr id="22" name="Shape 17"/>
          <p:cNvSpPr/>
          <p:nvPr/>
        </p:nvSpPr>
        <p:spPr>
          <a:xfrm>
            <a:off x="6565392" y="1819656"/>
            <a:ext cx="1682496" cy="1188720"/>
          </a:xfrm>
          <a:prstGeom prst="roundRect">
            <a:avLst>
              <a:gd name="adj" fmla="val 10769"/>
            </a:avLst>
          </a:prstGeom>
          <a:solidFill>
            <a:srgbClr val="FFFFFF"/>
          </a:solidFill>
          <a:ln w="19050">
            <a:solidFill>
              <a:srgbClr val="1C1B1B"/>
            </a:solidFill>
            <a:prstDash val="solid"/>
          </a:ln>
        </p:spPr>
      </p:sp>
      <p:sp>
        <p:nvSpPr>
          <p:cNvPr id="23" name="Text 18"/>
          <p:cNvSpPr txBox="1"/>
          <p:nvPr/>
        </p:nvSpPr>
        <p:spPr>
          <a:xfrm>
            <a:off x="6565392" y="1874520"/>
            <a:ext cx="1682496" cy="548640"/>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Bさんとの取引は</a:t>
            </a:r>
            <a:endParaRPr lang="en-US" sz="10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いかがでしたか？</a:t>
            </a:r>
            <a:endParaRPr lang="en-US" sz="1000" dirty="0"/>
          </a:p>
        </p:txBody>
      </p:sp>
      <p:sp>
        <p:nvSpPr>
          <p:cNvPr id="24" name="Text 19"/>
          <p:cNvSpPr txBox="1"/>
          <p:nvPr/>
        </p:nvSpPr>
        <p:spPr>
          <a:xfrm>
            <a:off x="6565392" y="2459736"/>
            <a:ext cx="1682496" cy="411480"/>
          </a:xfrm>
          <a:prstGeom prst="rect">
            <a:avLst/>
          </a:prstGeom>
          <a:noFill/>
          <a:ln/>
        </p:spPr>
        <p:txBody>
          <a:bodyPr wrap="square" lIns="0" tIns="0" rIns="0" bIns="0" rtlCol="0" anchor="ctr"/>
          <a:lstStyle/>
          <a:p>
            <a:pPr algn="ctr" indent="0" marL="0">
              <a:buNone/>
            </a:pPr>
            <a:r>
              <a:rPr lang="en-US" sz="2000" b="1" dirty="0">
                <a:solidFill>
                  <a:srgbClr val="6B7000"/>
                </a:solidFill>
                <a:latin typeface="Yu Gothic" pitchFamily="34" charset="0"/>
                <a:ea typeface="Yu Gothic" pitchFamily="34" charset="-122"/>
                <a:cs typeface="Yu Gothic" pitchFamily="34" charset="-120"/>
              </a:rPr>
              <a:t>★★★★★</a:t>
            </a:r>
            <a:endParaRPr lang="en-US" sz="2000" dirty="0"/>
          </a:p>
        </p:txBody>
      </p:sp>
      <p:sp>
        <p:nvSpPr>
          <p:cNvPr id="25" name="Shape 20"/>
          <p:cNvSpPr/>
          <p:nvPr/>
        </p:nvSpPr>
        <p:spPr>
          <a:xfrm>
            <a:off x="6565392" y="3191256"/>
            <a:ext cx="1682496" cy="329184"/>
          </a:xfrm>
          <a:prstGeom prst="roundRect">
            <a:avLst>
              <a:gd name="adj" fmla="val 27778"/>
            </a:avLst>
          </a:prstGeom>
          <a:solidFill>
            <a:srgbClr val="F8FF3E"/>
          </a:solidFill>
          <a:ln w="19050">
            <a:solidFill>
              <a:srgbClr val="1C1B1B"/>
            </a:solidFill>
            <a:prstDash val="solid"/>
          </a:ln>
        </p:spPr>
      </p:sp>
      <p:sp>
        <p:nvSpPr>
          <p:cNvPr id="26" name="Text 21"/>
          <p:cNvSpPr txBox="1"/>
          <p:nvPr/>
        </p:nvSpPr>
        <p:spPr>
          <a:xfrm>
            <a:off x="6565392" y="319125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評価を送る</a:t>
            </a:r>
            <a:endParaRPr lang="en-US" sz="900" dirty="0"/>
          </a:p>
        </p:txBody>
      </p:sp>
      <p:sp>
        <p:nvSpPr>
          <p:cNvPr id="27" name="Text 22"/>
          <p:cNvSpPr txBox="1"/>
          <p:nvPr/>
        </p:nvSpPr>
        <p:spPr>
          <a:xfrm>
            <a:off x="6565392" y="3648456"/>
            <a:ext cx="1682496" cy="228600"/>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このユーザーを通報</a:t>
            </a:r>
            <a:endParaRPr lang="en-US" sz="800" dirty="0"/>
          </a:p>
        </p:txBody>
      </p:sp>
      <p:sp>
        <p:nvSpPr>
          <p:cNvPr id="28" name="Shape 23"/>
          <p:cNvSpPr/>
          <p:nvPr/>
        </p:nvSpPr>
        <p:spPr>
          <a:xfrm>
            <a:off x="0" y="0"/>
            <a:ext cx="9144000" cy="5143500"/>
          </a:xfrm>
          <a:prstGeom prst="rect">
            <a:avLst/>
          </a:prstGeom>
          <a:solidFill>
            <a:srgbClr val="1C1B1B">
              <a:alpha val="55000"/>
            </a:srgbClr>
          </a:solidFill>
          <a:ln w="12700">
            <a:solidFill>
              <a:srgbClr val="1C1B1B"/>
            </a:solidFill>
            <a:prstDash val="solid"/>
          </a:ln>
        </p:spPr>
      </p:sp>
      <p:sp>
        <p:nvSpPr>
          <p:cNvPr id="29" name="Shape 24"/>
          <p:cNvSpPr/>
          <p:nvPr/>
        </p:nvSpPr>
        <p:spPr>
          <a:xfrm>
            <a:off x="1463040" y="1325880"/>
            <a:ext cx="6217920" cy="2514600"/>
          </a:xfrm>
          <a:prstGeom prst="roundRect">
            <a:avLst>
              <a:gd name="adj" fmla="val 5091"/>
            </a:avLst>
          </a:prstGeom>
          <a:solidFill>
            <a:srgbClr val="FFFFFF"/>
          </a:solidFill>
          <a:ln w="31750">
            <a:solidFill>
              <a:srgbClr val="1C1B1B"/>
            </a:solidFill>
            <a:prstDash val="solid"/>
          </a:ln>
        </p:spPr>
      </p:sp>
      <p:sp>
        <p:nvSpPr>
          <p:cNvPr id="30" name="Text 25"/>
          <p:cNvSpPr txBox="1"/>
          <p:nvPr/>
        </p:nvSpPr>
        <p:spPr>
          <a:xfrm>
            <a:off x="1737360" y="1463040"/>
            <a:ext cx="5669280" cy="2240280"/>
          </a:xfrm>
          <a:prstGeom prst="rect">
            <a:avLst/>
          </a:prstGeom>
          <a:noFill/>
          <a:ln/>
        </p:spPr>
        <p:txBody>
          <a:bodyPr wrap="square" lIns="0" tIns="0" rIns="0" bIns="0" rtlCol="0" anchor="ctr"/>
          <a:lstStyle/>
          <a:p>
            <a:pPr algn="ctr" indent="0" marL="0">
              <a:buNone/>
            </a:pPr>
            <a:r>
              <a:rPr lang="en-US" sz="1700" b="1" dirty="0">
                <a:solidFill>
                  <a:srgbClr val="1C1B1B"/>
                </a:solidFill>
                <a:latin typeface="Yu Gothic" pitchFamily="34" charset="0"/>
                <a:ea typeface="Yu Gothic" pitchFamily="34" charset="-122"/>
                <a:cs typeface="Yu Gothic" pitchFamily="34" charset="-120"/>
              </a:rPr>
              <a:t>マッチングだけではなく</a:t>
            </a:r>
            <a:endParaRPr lang="en-US" sz="1700" dirty="0"/>
          </a:p>
          <a:p>
            <a:pPr algn="ctr" indent="0" marL="0">
              <a:buNone/>
            </a:pPr>
            <a:r>
              <a:rPr lang="en-US" sz="1700" b="1" dirty="0">
                <a:solidFill>
                  <a:srgbClr val="1C1B1B"/>
                </a:solidFill>
                <a:latin typeface="Yu Gothic" pitchFamily="34" charset="0"/>
                <a:ea typeface="Yu Gothic" pitchFamily="34" charset="-122"/>
                <a:cs typeface="Yu Gothic" pitchFamily="34" charset="-120"/>
              </a:rPr>
              <a:t>登録・受け渡し・取引後まで</a:t>
            </a:r>
            <a:endParaRPr lang="en-US" sz="17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 </a:t>
            </a:r>
            <a:endParaRPr lang="en-US" sz="1700" dirty="0"/>
          </a:p>
          <a:p>
            <a:pPr algn="ctr" indent="0" marL="0">
              <a:buNone/>
            </a:pPr>
            <a:r>
              <a:rPr lang="en-US" sz="3000" b="1" dirty="0">
                <a:solidFill>
                  <a:srgbClr val="6B7000"/>
                </a:solidFill>
                <a:latin typeface="Yu Gothic" pitchFamily="34" charset="0"/>
                <a:ea typeface="Yu Gothic" pitchFamily="34" charset="-122"/>
                <a:cs typeface="Yu Gothic" pitchFamily="34" charset="-120"/>
              </a:rPr>
              <a:t>シームレスな体験の実現</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サービスの将来像</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40080"/>
            <a:ext cx="8229600" cy="411480"/>
          </a:xfrm>
          <a:prstGeom prst="rect">
            <a:avLst/>
          </a:prstGeom>
          <a:noFill/>
          <a:ln/>
        </p:spPr>
        <p:txBody>
          <a:bodyPr wrap="square" lIns="0" tIns="0" rIns="0" bIns="0" rtlCol="0" anchor="ctr"/>
          <a:lstStyle/>
          <a:p>
            <a:pPr algn="ctr" indent="0" marL="0">
              <a:buNone/>
            </a:pPr>
            <a:r>
              <a:rPr lang="en-US" sz="2200" b="1" dirty="0">
                <a:solidFill>
                  <a:srgbClr val="1C1B1B"/>
                </a:solidFill>
                <a:latin typeface="Yu Gothic" pitchFamily="34" charset="0"/>
                <a:ea typeface="Yu Gothic" pitchFamily="34" charset="-122"/>
                <a:cs typeface="Yu Gothic" pitchFamily="34" charset="-120"/>
              </a:rPr>
              <a:t>手放しやすく・受け取りやすい</a:t>
            </a:r>
            <a:endParaRPr lang="en-US" sz="2200" dirty="0"/>
          </a:p>
        </p:txBody>
      </p:sp>
      <p:sp>
        <p:nvSpPr>
          <p:cNvPr id="6" name="Text 3"/>
          <p:cNvSpPr txBox="1"/>
          <p:nvPr/>
        </p:nvSpPr>
        <p:spPr>
          <a:xfrm>
            <a:off x="457200" y="1024128"/>
            <a:ext cx="8229600" cy="411480"/>
          </a:xfrm>
          <a:prstGeom prst="rect">
            <a:avLst/>
          </a:prstGeom>
          <a:noFill/>
          <a:ln/>
        </p:spPr>
        <p:txBody>
          <a:bodyPr wrap="square" lIns="0" tIns="0" rIns="0" bIns="0" rtlCol="0" anchor="ctr"/>
          <a:lstStyle/>
          <a:p>
            <a:pPr algn="ctr" indent="0" marL="0">
              <a:buNone/>
            </a:pPr>
            <a:r>
              <a:rPr lang="en-US" sz="2200" b="1" dirty="0">
                <a:solidFill>
                  <a:srgbClr val="1C1B1B"/>
                </a:solidFill>
                <a:latin typeface="Yu Gothic" pitchFamily="34" charset="0"/>
                <a:ea typeface="Yu Gothic" pitchFamily="34" charset="-122"/>
                <a:cs typeface="Yu Gothic" pitchFamily="34" charset="-120"/>
              </a:rPr>
              <a:t>推し活の</a:t>
            </a:r>
            <a:pPr algn="ctr" indent="0" marL="0">
              <a:buNone/>
            </a:pPr>
            <a:r>
              <a:rPr lang="en-US" sz="2200" b="1" dirty="0">
                <a:solidFill>
                  <a:srgbClr val="6B7000"/>
                </a:solidFill>
                <a:latin typeface="Yu Gothic" pitchFamily="34" charset="0"/>
                <a:ea typeface="Yu Gothic" pitchFamily="34" charset="-122"/>
                <a:cs typeface="Yu Gothic" pitchFamily="34" charset="-120"/>
              </a:rPr>
              <a:t>“交換の基盤”</a:t>
            </a:r>
            <a:pPr algn="ctr" indent="0" marL="0">
              <a:buNone/>
            </a:pPr>
            <a:r>
              <a:rPr lang="en-US" sz="2200" b="1" dirty="0">
                <a:solidFill>
                  <a:srgbClr val="1C1B1B"/>
                </a:solidFill>
                <a:latin typeface="Yu Gothic" pitchFamily="34" charset="0"/>
                <a:ea typeface="Yu Gothic" pitchFamily="34" charset="-122"/>
                <a:cs typeface="Yu Gothic" pitchFamily="34" charset="-120"/>
              </a:rPr>
              <a:t>へ</a:t>
            </a:r>
            <a:endParaRPr lang="en-US" sz="2200" dirty="0"/>
          </a:p>
        </p:txBody>
      </p:sp>
      <p:sp>
        <p:nvSpPr>
          <p:cNvPr id="7" name="Shape 4"/>
          <p:cNvSpPr/>
          <p:nvPr/>
        </p:nvSpPr>
        <p:spPr>
          <a:xfrm>
            <a:off x="1005840" y="1783080"/>
            <a:ext cx="3291840" cy="384048"/>
          </a:xfrm>
          <a:prstGeom prst="roundRect">
            <a:avLst>
              <a:gd name="adj" fmla="val 50000"/>
            </a:avLst>
          </a:prstGeom>
          <a:solidFill>
            <a:srgbClr val="F4F4F7"/>
          </a:solidFill>
          <a:ln w="22225">
            <a:solidFill>
              <a:srgbClr val="1C1B1B"/>
            </a:solidFill>
            <a:prstDash val="solid"/>
          </a:ln>
        </p:spPr>
      </p:sp>
      <p:sp>
        <p:nvSpPr>
          <p:cNvPr id="8" name="Text 5"/>
          <p:cNvSpPr txBox="1"/>
          <p:nvPr/>
        </p:nvSpPr>
        <p:spPr>
          <a:xfrm>
            <a:off x="1005840" y="1783080"/>
            <a:ext cx="329184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ユーザーにとって</a:t>
            </a:r>
            <a:endParaRPr lang="en-US" sz="1200" dirty="0"/>
          </a:p>
        </p:txBody>
      </p:sp>
      <p:sp>
        <p:nvSpPr>
          <p:cNvPr id="9" name="Shape 6"/>
          <p:cNvSpPr/>
          <p:nvPr/>
        </p:nvSpPr>
        <p:spPr>
          <a:xfrm>
            <a:off x="2057400" y="2377440"/>
            <a:ext cx="1188720" cy="1188720"/>
          </a:xfrm>
          <a:prstGeom prst="ellipse">
            <a:avLst/>
          </a:prstGeom>
          <a:solidFill>
            <a:srgbClr val="F8FF3E"/>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2318918" y="2638958"/>
            <a:ext cx="665683" cy="665683"/>
          </a:xfrm>
          <a:prstGeom prst="rect">
            <a:avLst/>
          </a:prstGeom>
        </p:spPr>
      </p:pic>
      <p:sp>
        <p:nvSpPr>
          <p:cNvPr id="11" name="Text 7"/>
          <p:cNvSpPr txBox="1"/>
          <p:nvPr/>
        </p:nvSpPr>
        <p:spPr>
          <a:xfrm>
            <a:off x="1005840" y="3794760"/>
            <a:ext cx="3291840" cy="41148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手放したグッズが、次の推しの人へ届く</a:t>
            </a:r>
            <a:endParaRPr lang="en-US" sz="1200" dirty="0"/>
          </a:p>
        </p:txBody>
      </p:sp>
      <p:sp>
        <p:nvSpPr>
          <p:cNvPr id="12" name="Shape 8"/>
          <p:cNvSpPr/>
          <p:nvPr/>
        </p:nvSpPr>
        <p:spPr>
          <a:xfrm>
            <a:off x="4846320" y="1783080"/>
            <a:ext cx="3291840" cy="384048"/>
          </a:xfrm>
          <a:prstGeom prst="roundRect">
            <a:avLst>
              <a:gd name="adj" fmla="val 50000"/>
            </a:avLst>
          </a:prstGeom>
          <a:solidFill>
            <a:srgbClr val="F4F4F7"/>
          </a:solidFill>
          <a:ln w="22225">
            <a:solidFill>
              <a:srgbClr val="1C1B1B"/>
            </a:solidFill>
            <a:prstDash val="solid"/>
          </a:ln>
        </p:spPr>
      </p:sp>
      <p:sp>
        <p:nvSpPr>
          <p:cNvPr id="13" name="Text 9"/>
          <p:cNvSpPr txBox="1"/>
          <p:nvPr/>
        </p:nvSpPr>
        <p:spPr>
          <a:xfrm>
            <a:off x="4846320" y="1783080"/>
            <a:ext cx="329184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コミュニティにとって</a:t>
            </a:r>
            <a:endParaRPr lang="en-US" sz="1200" dirty="0"/>
          </a:p>
        </p:txBody>
      </p:sp>
      <p:sp>
        <p:nvSpPr>
          <p:cNvPr id="14" name="Shape 10"/>
          <p:cNvSpPr/>
          <p:nvPr/>
        </p:nvSpPr>
        <p:spPr>
          <a:xfrm>
            <a:off x="5897880" y="2377440"/>
            <a:ext cx="1188720" cy="1188720"/>
          </a:xfrm>
          <a:prstGeom prst="ellipse">
            <a:avLst/>
          </a:prstGeom>
          <a:solidFill>
            <a:srgbClr val="13F3CE"/>
          </a:solidFill>
          <a:ln w="25400">
            <a:solidFill>
              <a:srgbClr val="1C1B1B"/>
            </a:solidFill>
            <a:prstDash val="solid"/>
          </a:ln>
        </p:spPr>
      </p:sp>
      <p:pic>
        <p:nvPicPr>
          <p:cNvPr id="15" name="Image 2" descr="preencoded.png">    </p:cNvPr>
          <p:cNvPicPr>
            <a:picLocks noChangeAspect="1"/>
          </p:cNvPicPr>
          <p:nvPr/>
        </p:nvPicPr>
        <p:blipFill>
          <a:blip r:embed="rId3"/>
          <a:stretch>
            <a:fillRect/>
          </a:stretch>
        </p:blipFill>
        <p:spPr>
          <a:xfrm>
            <a:off x="6159398" y="2638958"/>
            <a:ext cx="665683" cy="665683"/>
          </a:xfrm>
          <a:prstGeom prst="rect">
            <a:avLst/>
          </a:prstGeom>
        </p:spPr>
      </p:pic>
      <p:sp>
        <p:nvSpPr>
          <p:cNvPr id="16" name="Text 11"/>
          <p:cNvSpPr txBox="1"/>
          <p:nvPr/>
        </p:nvSpPr>
        <p:spPr>
          <a:xfrm>
            <a:off x="4846320" y="3794760"/>
            <a:ext cx="3291840" cy="41148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イベント会場の外でも、交換の輪が回り続ける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サービスの目的地</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Shape 2"/>
          <p:cNvSpPr/>
          <p:nvPr/>
        </p:nvSpPr>
        <p:spPr>
          <a:xfrm>
            <a:off x="640080" y="914400"/>
            <a:ext cx="2377440" cy="457200"/>
          </a:xfrm>
          <a:prstGeom prst="roundRect">
            <a:avLst>
              <a:gd name="adj" fmla="val 16000"/>
            </a:avLst>
          </a:prstGeom>
          <a:solidFill>
            <a:srgbClr val="F8FF3E"/>
          </a:solidFill>
          <a:ln w="25400">
            <a:solidFill>
              <a:srgbClr val="1C1B1B"/>
            </a:solidFill>
            <a:prstDash val="solid"/>
          </a:ln>
        </p:spPr>
      </p:sp>
      <p:sp>
        <p:nvSpPr>
          <p:cNvPr id="6" name="Text 3"/>
          <p:cNvSpPr txBox="1"/>
          <p:nvPr/>
        </p:nvSpPr>
        <p:spPr>
          <a:xfrm>
            <a:off x="640080" y="914400"/>
            <a:ext cx="2377440" cy="457200"/>
          </a:xfrm>
          <a:prstGeom prst="rect">
            <a:avLst/>
          </a:prstGeom>
          <a:noFill/>
          <a:ln/>
        </p:spPr>
        <p:txBody>
          <a:bodyPr wrap="square" lIns="0" tIns="0" rIns="0" bIns="0" rtlCol="0" anchor="ctr"/>
          <a:lstStyle/>
          <a:p>
            <a:pPr algn="ctr" indent="0" marL="0">
              <a:buNone/>
            </a:pPr>
            <a:r>
              <a:rPr lang="en-US" sz="1500" b="1" dirty="0">
                <a:solidFill>
                  <a:srgbClr val="1C1B1B"/>
                </a:solidFill>
                <a:latin typeface="Yu Gothic" pitchFamily="34" charset="0"/>
                <a:ea typeface="Yu Gothic" pitchFamily="34" charset="-122"/>
                <a:cs typeface="Yu Gothic" pitchFamily="34" charset="-120"/>
              </a:rPr>
              <a:t>サービスの目的地</a:t>
            </a:r>
            <a:endParaRPr lang="en-US" sz="1500" dirty="0"/>
          </a:p>
        </p:txBody>
      </p:sp>
      <p:sp>
        <p:nvSpPr>
          <p:cNvPr id="7" name="Text 4"/>
          <p:cNvSpPr txBox="1"/>
          <p:nvPr/>
        </p:nvSpPr>
        <p:spPr>
          <a:xfrm>
            <a:off x="457200" y="1965960"/>
            <a:ext cx="8229600" cy="457200"/>
          </a:xfrm>
          <a:prstGeom prst="rect">
            <a:avLst/>
          </a:prstGeom>
          <a:noFill/>
          <a:ln/>
        </p:spPr>
        <p:txBody>
          <a:bodyPr wrap="square" lIns="0" tIns="0" rIns="0" bIns="0" rtlCol="0" anchor="ctr"/>
          <a:lstStyle/>
          <a:p>
            <a:pPr algn="ctr" indent="0" marL="0">
              <a:buNone/>
            </a:pPr>
            <a:r>
              <a:rPr lang="en-US" sz="2000" b="1" dirty="0">
                <a:solidFill>
                  <a:srgbClr val="1C1B1B"/>
                </a:solidFill>
                <a:latin typeface="Yu Gothic" pitchFamily="34" charset="0"/>
                <a:ea typeface="Yu Gothic" pitchFamily="34" charset="-122"/>
                <a:cs typeface="Yu Gothic" pitchFamily="34" charset="-120"/>
              </a:rPr>
              <a:t>すべての【譲】と【求】が、MeetU でつながる</a:t>
            </a:r>
            <a:endParaRPr lang="en-US" sz="2000" dirty="0"/>
          </a:p>
        </p:txBody>
      </p:sp>
      <p:sp>
        <p:nvSpPr>
          <p:cNvPr id="8" name="Text 5"/>
          <p:cNvSpPr txBox="1"/>
          <p:nvPr/>
        </p:nvSpPr>
        <p:spPr>
          <a:xfrm>
            <a:off x="457200" y="2514600"/>
            <a:ext cx="8229600" cy="1097280"/>
          </a:xfrm>
          <a:prstGeom prst="rect">
            <a:avLst/>
          </a:prstGeom>
          <a:noFill/>
          <a:ln/>
        </p:spPr>
        <p:txBody>
          <a:bodyPr wrap="square" lIns="0" tIns="0" rIns="0" bIns="0" rtlCol="0" anchor="ctr"/>
          <a:lstStyle/>
          <a:p>
            <a:pPr algn="ctr" indent="0" marL="0">
              <a:buNone/>
            </a:pPr>
            <a:r>
              <a:rPr lang="en-US" sz="4800" b="1" dirty="0">
                <a:solidFill>
                  <a:srgbClr val="1C1B1B"/>
                </a:solidFill>
                <a:latin typeface="Yu Gothic" pitchFamily="34" charset="0"/>
                <a:ea typeface="Yu Gothic" pitchFamily="34" charset="-122"/>
                <a:cs typeface="Yu Gothic" pitchFamily="34" charset="-120"/>
              </a:rPr>
              <a:t>推し活の</a:t>
            </a:r>
            <a:pPr algn="ctr" indent="0" marL="0">
              <a:buNone/>
            </a:pPr>
            <a:r>
              <a:rPr lang="en-US" sz="4800" b="1" dirty="0">
                <a:solidFill>
                  <a:srgbClr val="6B7000"/>
                </a:solidFill>
                <a:latin typeface="Yu Gothic" pitchFamily="34" charset="0"/>
                <a:ea typeface="Yu Gothic" pitchFamily="34" charset="-122"/>
                <a:cs typeface="Yu Gothic" pitchFamily="34" charset="-120"/>
              </a:rPr>
              <a:t>交換インフラ</a:t>
            </a:r>
            <a:endParaRPr lang="en-US" sz="4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スケールする設計</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利用者が増えても、</a:t>
            </a:r>
            <a:pPr algn="ctr" indent="0" marL="0">
              <a:buNone/>
            </a:pPr>
            <a:r>
              <a:rPr lang="en-US" sz="2400" b="1" dirty="0">
                <a:solidFill>
                  <a:srgbClr val="6B7000"/>
                </a:solidFill>
                <a:latin typeface="Yu Gothic" pitchFamily="34" charset="0"/>
                <a:ea typeface="Yu Gothic" pitchFamily="34" charset="-122"/>
                <a:cs typeface="Yu Gothic" pitchFamily="34" charset="-120"/>
              </a:rPr>
              <a:t>崩れない</a:t>
            </a:r>
            <a:pPr algn="ctr" indent="0" marL="0">
              <a:buNone/>
            </a:pPr>
            <a:r>
              <a:rPr lang="en-US" sz="2400" b="1" dirty="0">
                <a:solidFill>
                  <a:srgbClr val="1C1B1B"/>
                </a:solidFill>
                <a:latin typeface="Yu Gothic" pitchFamily="34" charset="0"/>
                <a:ea typeface="Yu Gothic" pitchFamily="34" charset="-122"/>
                <a:cs typeface="Yu Gothic" pitchFamily="34" charset="-120"/>
              </a:rPr>
              <a:t>設計</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6B7000"/>
                </a:solidFill>
                <a:latin typeface="Yu Gothic" pitchFamily="34" charset="0"/>
                <a:ea typeface="Yu Gothic" pitchFamily="34" charset="-122"/>
                <a:cs typeface="Yu Gothic" pitchFamily="34" charset="-120"/>
              </a:rPr>
              <a:t>計算量とコストが、規模に比例して膨らまない</a:t>
            </a:r>
            <a:endParaRPr lang="en-US" sz="1300" dirty="0"/>
          </a:p>
        </p:txBody>
      </p:sp>
      <p:sp>
        <p:nvSpPr>
          <p:cNvPr id="7" name="Shape 4"/>
          <p:cNvSpPr/>
          <p:nvPr/>
        </p:nvSpPr>
        <p:spPr>
          <a:xfrm>
            <a:off x="502920" y="1783080"/>
            <a:ext cx="2514600" cy="2697480"/>
          </a:xfrm>
          <a:prstGeom prst="roundRect">
            <a:avLst>
              <a:gd name="adj" fmla="val 5091"/>
            </a:avLst>
          </a:prstGeom>
          <a:solidFill>
            <a:srgbClr val="FFFFFF"/>
          </a:solidFill>
          <a:ln w="25400">
            <a:solidFill>
              <a:srgbClr val="1C1B1B"/>
            </a:solidFill>
            <a:prstDash val="solid"/>
          </a:ln>
        </p:spPr>
      </p:sp>
      <p:sp>
        <p:nvSpPr>
          <p:cNvPr id="8" name="Text 5"/>
          <p:cNvSpPr txBox="1"/>
          <p:nvPr/>
        </p:nvSpPr>
        <p:spPr>
          <a:xfrm>
            <a:off x="502920" y="1920240"/>
            <a:ext cx="2514600" cy="822960"/>
          </a:xfrm>
          <a:prstGeom prst="rect">
            <a:avLst/>
          </a:prstGeom>
          <a:noFill/>
          <a:ln/>
        </p:spPr>
        <p:txBody>
          <a:bodyPr wrap="square" lIns="0" tIns="0" rIns="0" bIns="0" rtlCol="0" anchor="ctr"/>
          <a:lstStyle/>
          <a:p>
            <a:pPr algn="ctr" indent="0" marL="0">
              <a:buNone/>
            </a:pPr>
            <a:r>
              <a:rPr lang="en-US" sz="4400" b="1" dirty="0">
                <a:solidFill>
                  <a:srgbClr val="6B7000"/>
                </a:solidFill>
                <a:latin typeface="Yu Gothic" pitchFamily="34" charset="0"/>
                <a:ea typeface="Yu Gothic" pitchFamily="34" charset="-122"/>
                <a:cs typeface="Yu Gothic" pitchFamily="34" charset="-120"/>
              </a:rPr>
              <a:t>300</a:t>
            </a:r>
            <a:endParaRPr lang="en-US" sz="4400" dirty="0"/>
          </a:p>
        </p:txBody>
      </p:sp>
      <p:sp>
        <p:nvSpPr>
          <p:cNvPr id="9" name="Text 6"/>
          <p:cNvSpPr txBox="1"/>
          <p:nvPr/>
        </p:nvSpPr>
        <p:spPr>
          <a:xfrm>
            <a:off x="502920"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訪問で探索を打ち切り</a:t>
            </a:r>
            <a:endParaRPr lang="en-US" sz="1200" dirty="0"/>
          </a:p>
        </p:txBody>
      </p:sp>
      <p:sp>
        <p:nvSpPr>
          <p:cNvPr id="10" name="Text 7"/>
          <p:cNvSpPr txBox="1"/>
          <p:nvPr/>
        </p:nvSpPr>
        <p:spPr>
          <a:xfrm>
            <a:off x="640080"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深さ・分岐・訪問数に上限を置き、</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登録1回の計算量を一定に保つ</a:t>
            </a:r>
            <a:endParaRPr lang="en-US" sz="1000" dirty="0"/>
          </a:p>
        </p:txBody>
      </p:sp>
      <p:sp>
        <p:nvSpPr>
          <p:cNvPr id="11" name="Shape 8"/>
          <p:cNvSpPr/>
          <p:nvPr/>
        </p:nvSpPr>
        <p:spPr>
          <a:xfrm>
            <a:off x="3319272" y="1783080"/>
            <a:ext cx="2514600" cy="2697480"/>
          </a:xfrm>
          <a:prstGeom prst="roundRect">
            <a:avLst>
              <a:gd name="adj" fmla="val 5091"/>
            </a:avLst>
          </a:prstGeom>
          <a:solidFill>
            <a:srgbClr val="FFFFFF"/>
          </a:solidFill>
          <a:ln w="25400">
            <a:solidFill>
              <a:srgbClr val="1C1B1B"/>
            </a:solidFill>
            <a:prstDash val="solid"/>
          </a:ln>
        </p:spPr>
      </p:sp>
      <p:sp>
        <p:nvSpPr>
          <p:cNvPr id="12" name="Text 9"/>
          <p:cNvSpPr txBox="1"/>
          <p:nvPr/>
        </p:nvSpPr>
        <p:spPr>
          <a:xfrm>
            <a:off x="3319272" y="1920240"/>
            <a:ext cx="2514600" cy="822960"/>
          </a:xfrm>
          <a:prstGeom prst="rect">
            <a:avLst/>
          </a:prstGeom>
          <a:noFill/>
          <a:ln/>
        </p:spPr>
        <p:txBody>
          <a:bodyPr wrap="square" lIns="0" tIns="0" rIns="0" bIns="0" rtlCol="0" anchor="ctr"/>
          <a:lstStyle/>
          <a:p>
            <a:pPr algn="ctr" indent="0" marL="0">
              <a:buNone/>
            </a:pPr>
            <a:r>
              <a:rPr lang="en-US" sz="4400" b="1" dirty="0">
                <a:solidFill>
                  <a:srgbClr val="00705E"/>
                </a:solidFill>
                <a:latin typeface="Yu Gothic" pitchFamily="34" charset="0"/>
                <a:ea typeface="Yu Gothic" pitchFamily="34" charset="-122"/>
                <a:cs typeface="Yu Gothic" pitchFamily="34" charset="-120"/>
              </a:rPr>
              <a:t>語彙数</a:t>
            </a:r>
            <a:endParaRPr lang="en-US" sz="4400" dirty="0"/>
          </a:p>
        </p:txBody>
      </p:sp>
      <p:sp>
        <p:nvSpPr>
          <p:cNvPr id="13" name="Text 10"/>
          <p:cNvSpPr txBox="1"/>
          <p:nvPr/>
        </p:nvSpPr>
        <p:spPr>
          <a:xfrm>
            <a:off x="3319272"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でベクトル数が決まる</a:t>
            </a:r>
            <a:endParaRPr lang="en-US" sz="1200" dirty="0"/>
          </a:p>
        </p:txBody>
      </p:sp>
      <p:sp>
        <p:nvSpPr>
          <p:cNvPr id="14" name="Text 11"/>
          <p:cNvSpPr txBox="1"/>
          <p:nvPr/>
        </p:nvSpPr>
        <p:spPr>
          <a:xfrm>
            <a:off x="3456432"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埋め込むのはカードではなくタグ。</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カードが増えても頭打ちになる</a:t>
            </a:r>
            <a:endParaRPr lang="en-US" sz="1000" dirty="0"/>
          </a:p>
        </p:txBody>
      </p:sp>
      <p:sp>
        <p:nvSpPr>
          <p:cNvPr id="15" name="Shape 12"/>
          <p:cNvSpPr/>
          <p:nvPr/>
        </p:nvSpPr>
        <p:spPr>
          <a:xfrm>
            <a:off x="6135624" y="1783080"/>
            <a:ext cx="2514600" cy="2697480"/>
          </a:xfrm>
          <a:prstGeom prst="roundRect">
            <a:avLst>
              <a:gd name="adj" fmla="val 5091"/>
            </a:avLst>
          </a:prstGeom>
          <a:solidFill>
            <a:srgbClr val="FFFFFF"/>
          </a:solidFill>
          <a:ln w="25400">
            <a:solidFill>
              <a:srgbClr val="1C1B1B"/>
            </a:solidFill>
            <a:prstDash val="solid"/>
          </a:ln>
        </p:spPr>
      </p:sp>
      <p:sp>
        <p:nvSpPr>
          <p:cNvPr id="16" name="Text 13"/>
          <p:cNvSpPr txBox="1"/>
          <p:nvPr/>
        </p:nvSpPr>
        <p:spPr>
          <a:xfrm>
            <a:off x="6135624" y="1920240"/>
            <a:ext cx="2514600" cy="822960"/>
          </a:xfrm>
          <a:prstGeom prst="rect">
            <a:avLst/>
          </a:prstGeom>
          <a:noFill/>
          <a:ln/>
        </p:spPr>
        <p:txBody>
          <a:bodyPr wrap="square" lIns="0" tIns="0" rIns="0" bIns="0" rtlCol="0" anchor="ctr"/>
          <a:lstStyle/>
          <a:p>
            <a:pPr algn="ctr" indent="0" marL="0">
              <a:buNone/>
            </a:pPr>
            <a:r>
              <a:rPr lang="en-US" sz="4400" b="1" dirty="0">
                <a:solidFill>
                  <a:srgbClr val="1C1B1B"/>
                </a:solidFill>
                <a:latin typeface="Yu Gothic" pitchFamily="34" charset="0"/>
                <a:ea typeface="Yu Gothic" pitchFamily="34" charset="-122"/>
                <a:cs typeface="Yu Gothic" pitchFamily="34" charset="-120"/>
              </a:rPr>
              <a:t>3段階</a:t>
            </a:r>
            <a:endParaRPr lang="en-US" sz="4400" dirty="0"/>
          </a:p>
        </p:txBody>
      </p:sp>
      <p:sp>
        <p:nvSpPr>
          <p:cNvPr id="17" name="Text 14"/>
          <p:cNvSpPr txBox="1"/>
          <p:nvPr/>
        </p:nvSpPr>
        <p:spPr>
          <a:xfrm>
            <a:off x="6135624"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の拡張方針を設計済み</a:t>
            </a:r>
            <a:endParaRPr lang="en-US" sz="1200" dirty="0"/>
          </a:p>
        </p:txBody>
      </p:sp>
      <p:sp>
        <p:nvSpPr>
          <p:cNvPr id="18" name="Text 15"/>
          <p:cNvSpPr txBox="1"/>
          <p:nvPr/>
        </p:nvSpPr>
        <p:spPr>
          <a:xfrm>
            <a:off x="6272784"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打ち切り探索 → 上界との比較評価</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 ILP・列生成による厳密解法</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F8FF3E"/>
          </a:solidFill>
          <a:ln w="12700">
            <a:solidFill>
              <a:srgbClr val="F8FF3E"/>
            </a:solidFill>
            <a:prstDash val="solid"/>
          </a:ln>
        </p:spPr>
      </p:sp>
      <p:sp>
        <p:nvSpPr>
          <p:cNvPr id="3" name="Shape 1"/>
          <p:cNvSpPr/>
          <p:nvPr/>
        </p:nvSpPr>
        <p:spPr>
          <a:xfrm>
            <a:off x="6583680" y="3566160"/>
            <a:ext cx="3291840" cy="3291840"/>
          </a:xfrm>
          <a:prstGeom prst="ellipse">
            <a:avLst/>
          </a:prstGeom>
          <a:solidFill>
            <a:srgbClr val="D7FDF6"/>
          </a:solidFill>
          <a:ln w="12700">
            <a:solidFill>
              <a:srgbClr val="D7FDF6"/>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6B7000"/>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推し活のグッズ交換を、</a:t>
            </a:r>
            <a:pPr indent="0" marL="0">
              <a:buNone/>
            </a:pPr>
            <a:r>
              <a:rPr lang="en-US" sz="1300" b="1" dirty="0">
                <a:solidFill>
                  <a:srgbClr val="00705E"/>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とつなぐマッチング</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F8FF3E"/>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1C1B1B"/>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7FDF6"/>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F8FF3E"/>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F8FF3E"/>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6B7000"/>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658368" cy="237744"/>
          </a:xfrm>
          <a:prstGeom prst="roundRect">
            <a:avLst>
              <a:gd name="adj" fmla="val 50000"/>
            </a:avLst>
          </a:prstGeom>
          <a:solidFill>
            <a:srgbClr val="1C1B1B"/>
          </a:solidFill>
          <a:ln w="15875">
            <a:solidFill>
              <a:srgbClr val="1C1B1B"/>
            </a:solidFill>
            <a:prstDash val="solid"/>
          </a:ln>
        </p:spPr>
      </p:sp>
      <p:sp>
        <p:nvSpPr>
          <p:cNvPr id="34" name="Text 31"/>
          <p:cNvSpPr txBox="1"/>
          <p:nvPr/>
        </p:nvSpPr>
        <p:spPr>
          <a:xfrm>
            <a:off x="6199632" y="3300984"/>
            <a:ext cx="65836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プロセカ</a:t>
            </a:r>
            <a:endParaRPr lang="en-US" sz="800" dirty="0"/>
          </a:p>
        </p:txBody>
      </p:sp>
      <p:sp>
        <p:nvSpPr>
          <p:cNvPr id="35" name="Shape 32"/>
          <p:cNvSpPr/>
          <p:nvPr/>
        </p:nvSpPr>
        <p:spPr>
          <a:xfrm>
            <a:off x="6931152" y="3300984"/>
            <a:ext cx="566928" cy="237744"/>
          </a:xfrm>
          <a:prstGeom prst="roundRect">
            <a:avLst>
              <a:gd name="adj" fmla="val 50000"/>
            </a:avLst>
          </a:prstGeom>
          <a:solidFill>
            <a:srgbClr val="1C1B1B"/>
          </a:solidFill>
          <a:ln w="15875">
            <a:solidFill>
              <a:srgbClr val="1C1B1B"/>
            </a:solidFill>
            <a:prstDash val="solid"/>
          </a:ln>
        </p:spPr>
      </p:sp>
      <p:sp>
        <p:nvSpPr>
          <p:cNvPr id="36" name="Text 33"/>
          <p:cNvSpPr txBox="1"/>
          <p:nvPr/>
        </p:nvSpPr>
        <p:spPr>
          <a:xfrm>
            <a:off x="6931152" y="3300984"/>
            <a:ext cx="566928"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天馬司</a:t>
            </a:r>
            <a:endParaRPr lang="en-US" sz="800" dirty="0"/>
          </a:p>
        </p:txBody>
      </p:sp>
      <p:sp>
        <p:nvSpPr>
          <p:cNvPr id="37" name="Shape 34"/>
          <p:cNvSpPr/>
          <p:nvPr/>
        </p:nvSpPr>
        <p:spPr>
          <a:xfrm>
            <a:off x="6199632" y="3694176"/>
            <a:ext cx="1682496" cy="329184"/>
          </a:xfrm>
          <a:prstGeom prst="roundRect">
            <a:avLst>
              <a:gd name="adj" fmla="val 27778"/>
            </a:avLst>
          </a:prstGeom>
          <a:solidFill>
            <a:srgbClr val="F8FF3E"/>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MeetU</dc:title>
  <dc:subject>PptxGenJS Presentation</dc:subject>
  <dc:creator>PptxGenJS</dc:creator>
  <cp:lastModifiedBy>PptxGenJS</cp:lastModifiedBy>
  <cp:revision>1</cp:revision>
  <dcterms:created xsi:type="dcterms:W3CDTF">2026-10-21T02:48:12Z</dcterms:created>
  <dcterms:modified xsi:type="dcterms:W3CDTF">2026-10-21T02:48:12Z</dcterms:modified>
</cp:coreProperties>
</file>